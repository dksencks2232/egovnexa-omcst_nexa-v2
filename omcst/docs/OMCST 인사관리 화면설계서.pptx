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9" r:id="rId5"/>
    <p:sldId id="260" r:id="rId6"/>
    <p:sldId id="261" r:id="rId7"/>
    <p:sldId id="262" r:id="rId8"/>
    <p:sldId id="263" r:id="rId9"/>
    <p:sldId id="273" r:id="rId10"/>
    <p:sldId id="265" r:id="rId11"/>
    <p:sldId id="274" r:id="rId12"/>
    <p:sldId id="277" r:id="rId13"/>
    <p:sldId id="278" r:id="rId14"/>
    <p:sldId id="279" r:id="rId15"/>
    <p:sldId id="280" r:id="rId16"/>
    <p:sldId id="281" r:id="rId17"/>
    <p:sldId id="284" r:id="rId18"/>
    <p:sldId id="283" r:id="rId19"/>
    <p:sldId id="282" r:id="rId20"/>
    <p:sldId id="286" r:id="rId21"/>
    <p:sldId id="269" r:id="rId22"/>
    <p:sldId id="272" r:id="rId23"/>
    <p:sldId id="285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EDEDED"/>
    <a:srgbClr val="FFFF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7B91E-1377-8CA7-79F2-C63395825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972F4C-657F-98D0-45FF-6A54C4CCB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4AC58E-1C05-3439-742F-5C930464F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4BDF32-CD77-9033-CB32-F283A782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BFB89B-197B-0CFF-79EC-A87D1ED5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984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177F3-9E64-2475-DF03-B57E30EF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D5DCFE-33A7-F402-347B-57440C22F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04607F-2159-D64B-CD31-A125FCC5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C7CC6C-ACDA-8A47-0672-BA4E85259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21A7C-133F-D4CC-3DAB-5262E3F1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40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342804-C605-4D72-DA49-B60E579E6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63F529-DFD5-DF10-0E4B-2433D58F7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A8C795-9D2C-9BFC-95AE-FE3E0449D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DC835-139D-AFF9-1F30-1D4879ACE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25397A-5771-FA95-A1ED-C7AF1E57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D3391-CC22-2FA4-783F-F5B1FE3C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F39D10-27AF-A751-718E-199CF8B81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5A72A7-E302-AFD7-0A4C-6F173BDEB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55FDCD-A1AD-0584-E5D0-EA102C10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0717D7-F80F-1012-789A-8D9E7E55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E4BD3F-6144-42A2-E499-E5EFA3156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913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267B0-768C-A1C0-AA95-B5D990DBE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62CA1C-168B-CAFF-CFA6-5E80EE149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4DDFC2-FB11-73CE-93D3-512DD979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EADA4D-868B-7A23-1642-D396C27D1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609E09-D236-BEE8-1BF9-ECDBD7012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8E619D9-2EBE-E8AB-680A-8A9C49AB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8CA846-9B3D-E946-A125-71C64627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8D3BA5-4438-8CFC-BE67-11FD0233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08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A8273-60F1-6B0E-F17C-48D3451D0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F75D27-0209-AD6E-6D4D-AB6F2438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323E02-334E-AA91-6C69-18CE10DB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0D0BC9-85D4-D851-2827-0A4429E8E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6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C1DAE9-426B-E5DC-6DEB-FF2E5FC0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413F22-835C-4074-1744-B53BA7F8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42E884-0D56-0395-FE56-DCA13A88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55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7D40A-FAB1-6A47-491F-50FCAFE7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532DB6-23F4-3527-9853-9C4D83698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4A8CE8-B8ED-FB73-FC3B-5035DA84E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5CECE0-53A0-F684-613D-D89A106FC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DCD407-819C-BD94-AC3D-AF460108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C5E288-02A5-21AD-97D8-9500CB0CD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09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EEBD9-B713-F3CC-1C4C-78AF2F2F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884104-C6FC-67F3-A0FB-F25D72DF9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9F523C-5AFA-2373-32B3-0E4B4FC95C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F5C33-9CC5-6622-3383-2FE2E6A72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9B2DF9-F030-FE0C-0204-F7862F6D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8DA44F-B9E4-703D-A5B5-8F2AD9BF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09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10144-1553-8059-775E-224AFEDE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4CBBF3-C3BD-6EDC-E8E6-6264FC565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50C3D-6172-5E58-7B05-3B5B4421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99952-F788-D40F-0CA4-01793C32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CC7B20-1FDF-F535-3F91-2B033CC56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821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212E24-187B-652A-7BAC-A03018B7A3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81AD6F8-3221-F2CA-D2AE-7B4272AC9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7EC22A-065B-2D50-66E6-C640EA19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D9744-B70B-046C-217F-1588210A5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CE0325-804E-1E10-CCD2-1A8133F1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4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3CCEF0-9CA5-3B22-80AA-D6AB2CF9F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6FFA7B-E157-2369-DE8C-FDD910896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01B58F-3AF4-8A10-9858-86B74C3AF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4D92E-6C81-48FA-B4FC-F058F84E6C7E}" type="datetimeFigureOut">
              <a:rPr lang="ko-KR" altLang="en-US" smtClean="0"/>
              <a:t>2023-02-07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09A589-3E48-FFDE-FFD3-AE469128A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02F9AF-1E62-CF2E-F6FA-6E6468E59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71FAF-3896-4401-8946-89002001F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11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hangeul.naver.com/fon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7A92B1C-3EDA-5604-0EB6-8DEE83EB91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9869FB-3E96-F892-2DD8-42B4B15BB099}"/>
              </a:ext>
            </a:extLst>
          </p:cNvPr>
          <p:cNvSpPr/>
          <p:nvPr/>
        </p:nvSpPr>
        <p:spPr>
          <a:xfrm>
            <a:off x="251520" y="6381908"/>
            <a:ext cx="225254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</a:t>
            </a:r>
            <a:r>
              <a:rPr lang="ko-KR" altLang="en-US" sz="800" dirty="0" err="1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나눔글꼴로</a:t>
            </a:r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작성되었습니다  </a:t>
            </a:r>
            <a:r>
              <a:rPr lang="ko-KR" altLang="en-US" sz="800" u="sng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설치하기</a:t>
            </a:r>
            <a:endParaRPr lang="ko-KR" altLang="en-US" sz="800" u="sng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BD427-740D-D33F-9F04-6DECBE8E545E}"/>
              </a:ext>
            </a:extLst>
          </p:cNvPr>
          <p:cNvSpPr txBox="1"/>
          <p:nvPr/>
        </p:nvSpPr>
        <p:spPr>
          <a:xfrm>
            <a:off x="467544" y="3171102"/>
            <a:ext cx="12961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2023-01-30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ECFB8-DC03-31D8-E6DF-7C3E435907F8}"/>
              </a:ext>
            </a:extLst>
          </p:cNvPr>
          <p:cNvSpPr txBox="1"/>
          <p:nvPr/>
        </p:nvSpPr>
        <p:spPr>
          <a:xfrm>
            <a:off x="482218" y="1508591"/>
            <a:ext cx="5817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OMCST</a:t>
            </a:r>
            <a:r>
              <a:rPr lang="ko-KR" altLang="en-US" sz="36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 인사관리프로그램 화면설계서</a:t>
            </a:r>
            <a:endParaRPr lang="en-US" altLang="ko-KR" sz="36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05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946EA-4C95-49D9-457C-A7A2A803C8FF}"/>
              </a:ext>
            </a:extLst>
          </p:cNvPr>
          <p:cNvSpPr txBox="1"/>
          <p:nvPr/>
        </p:nvSpPr>
        <p:spPr>
          <a:xfrm>
            <a:off x="803359" y="1807592"/>
            <a:ext cx="11940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알림정보</a:t>
            </a:r>
            <a:endParaRPr lang="en-US" altLang="ko-KR" sz="1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공지사항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업무게시판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헬프데스크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FF216-7BD6-4177-119D-DD97EEFBB608}"/>
              </a:ext>
            </a:extLst>
          </p:cNvPr>
          <p:cNvSpPr txBox="1"/>
          <p:nvPr/>
        </p:nvSpPr>
        <p:spPr>
          <a:xfrm>
            <a:off x="2378007" y="1807592"/>
            <a:ext cx="1194062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en-US" altLang="ko-KR" sz="1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휴가신청관리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           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휴가신청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       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결재현황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</a:t>
            </a:r>
            <a:r>
              <a:rPr lang="ko-KR" altLang="en-US" sz="11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휴가결재관리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           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휴가결재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        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연차관리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6231B-97FF-552B-CC60-7B9C06602E43}"/>
              </a:ext>
            </a:extLst>
          </p:cNvPr>
          <p:cNvSpPr txBox="1"/>
          <p:nvPr/>
        </p:nvSpPr>
        <p:spPr>
          <a:xfrm>
            <a:off x="5049936" y="1814494"/>
            <a:ext cx="119406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조직관리</a:t>
            </a:r>
            <a:endParaRPr lang="en-US" altLang="ko-KR" sz="1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사용자관리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시스템관리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68A98-1A33-CD27-E149-942D933BC11E}"/>
              </a:ext>
            </a:extLst>
          </p:cNvPr>
          <p:cNvSpPr txBox="1"/>
          <p:nvPr/>
        </p:nvSpPr>
        <p:spPr>
          <a:xfrm>
            <a:off x="6433983" y="1789049"/>
            <a:ext cx="17775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시스템 관리</a:t>
            </a:r>
            <a:endParaRPr lang="en-US" altLang="ko-KR" sz="1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메뉴관리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화면관리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코드관리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E09F4-BE5A-71FA-FE62-0B435EF6779A}"/>
              </a:ext>
            </a:extLst>
          </p:cNvPr>
          <p:cNvSpPr txBox="1"/>
          <p:nvPr/>
        </p:nvSpPr>
        <p:spPr>
          <a:xfrm>
            <a:off x="3808964" y="1814494"/>
            <a:ext cx="119406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마이페이지</a:t>
            </a:r>
            <a:endParaRPr lang="en-US" altLang="ko-KR" sz="1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정보수정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  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연차확인</a:t>
            </a:r>
            <a:endParaRPr lang="en-US" altLang="ko-KR" sz="11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875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73A6630-7513-CE01-BBE5-99AAA6425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943325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9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로그인 화면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API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uat/uia/egovLoginUsr.do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메뉴 경로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uat</a:t>
                      </a:r>
                      <a:r>
                        <a:rPr lang="en-US" altLang="ko-KR" sz="110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uia</a:t>
                      </a:r>
                      <a:r>
                        <a:rPr lang="en-US" altLang="ko-KR" sz="110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EgovLoginUsr.jsp</a:t>
                      </a:r>
                      <a:endParaRPr lang="en-US" altLang="ko-KR" sz="1100" spc="-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8CC3A15F-5445-D65D-B23B-D6982C6155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96" r="15938"/>
          <a:stretch/>
        </p:blipFill>
        <p:spPr>
          <a:xfrm>
            <a:off x="371475" y="1154580"/>
            <a:ext cx="4638676" cy="32266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5EF9739-055A-37DB-1385-4CC76008FB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077" t="24955" r="21407" b="16774"/>
          <a:stretch/>
        </p:blipFill>
        <p:spPr>
          <a:xfrm>
            <a:off x="6391276" y="1245256"/>
            <a:ext cx="4791074" cy="244100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5E0F431-E26C-2C55-C8EA-7FC7A7760042}"/>
              </a:ext>
            </a:extLst>
          </p:cNvPr>
          <p:cNvCxnSpPr>
            <a:cxnSpLocks/>
          </p:cNvCxnSpPr>
          <p:nvPr/>
        </p:nvCxnSpPr>
        <p:spPr>
          <a:xfrm>
            <a:off x="5489624" y="2387201"/>
            <a:ext cx="520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09ACA7-5BB0-5217-F5E1-C6638CDD529E}"/>
              </a:ext>
            </a:extLst>
          </p:cNvPr>
          <p:cNvSpPr txBox="1"/>
          <p:nvPr/>
        </p:nvSpPr>
        <p:spPr>
          <a:xfrm>
            <a:off x="371475" y="51130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EE30BC-BEDA-66EA-8693-8DC99E71D092}"/>
              </a:ext>
            </a:extLst>
          </p:cNvPr>
          <p:cNvSpPr txBox="1"/>
          <p:nvPr/>
        </p:nvSpPr>
        <p:spPr>
          <a:xfrm>
            <a:off x="385167" y="5352673"/>
            <a:ext cx="4234457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헤더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푸터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삭제 필요 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하단에 관리자 이메일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전화번호 및 비밀번호 분실 시 메뉴얼 안내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07E1FE2-D0E9-D57A-4E17-DFF26A368D7F}"/>
              </a:ext>
            </a:extLst>
          </p:cNvPr>
          <p:cNvCxnSpPr>
            <a:cxnSpLocks/>
          </p:cNvCxnSpPr>
          <p:nvPr/>
        </p:nvCxnSpPr>
        <p:spPr>
          <a:xfrm>
            <a:off x="0" y="4866974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327D086-18F8-06D4-68DB-DAB12901CF17}"/>
              </a:ext>
            </a:extLst>
          </p:cNvPr>
          <p:cNvSpPr txBox="1"/>
          <p:nvPr/>
        </p:nvSpPr>
        <p:spPr>
          <a:xfrm>
            <a:off x="6096000" y="51130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D6AFF0-1D66-2BF8-667E-213A9F2240D1}"/>
              </a:ext>
            </a:extLst>
          </p:cNvPr>
          <p:cNvSpPr txBox="1"/>
          <p:nvPr/>
        </p:nvSpPr>
        <p:spPr>
          <a:xfrm>
            <a:off x="6109691" y="5352673"/>
            <a:ext cx="4510683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입사자는 사용할 아이디 및 기타 정보를 관리자에게 메일로 전달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관리자가 아이디 및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입사자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정보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권한 등록 후 메일로 안내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초기 로그인 시 기본 비밀번호 변경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변경한 비밀번호로 재로그인 필요 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비밀번호 분실 시 관리자에게 문의하여 비밀번호 초기화 후 재설정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25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/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9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메인화면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API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spc="-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메뉴 경로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spc="-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51130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5352673"/>
            <a:ext cx="4720233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 하드코딩 되어 있는 부분 사용자 권한에 따라 조회된 메뉴가 그려지도록 수정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공지사항 클릭 시 해당 공지사항 상세 내용 제공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지금은 공지사항 목록으로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넘어감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+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버튼은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없애야함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관리자든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사용자든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메인화면에서는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조회만 가능함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오늘의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할일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대신 연차 승인 현황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승인 처리 해야 할 연차 목록 제공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고정글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기능 추가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상단 고정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0" y="4866974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FE9D1D1-629E-CC87-044D-DB1E2C28A68B}"/>
              </a:ext>
            </a:extLst>
          </p:cNvPr>
          <p:cNvSpPr txBox="1"/>
          <p:nvPr/>
        </p:nvSpPr>
        <p:spPr>
          <a:xfrm>
            <a:off x="6096000" y="51130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0E6EF-A0E3-BF7F-9A28-12AFB31BE080}"/>
              </a:ext>
            </a:extLst>
          </p:cNvPr>
          <p:cNvSpPr txBox="1"/>
          <p:nvPr/>
        </p:nvSpPr>
        <p:spPr>
          <a:xfrm>
            <a:off x="6109691" y="5352673"/>
            <a:ext cx="4510683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사용자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ver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연차 승인 현황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업무공지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 </a:t>
            </a:r>
            <a:r>
              <a:rPr lang="en-US" altLang="ko-KR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ver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승인 처리 해야 할 연차 목록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업무공지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DE1D02-A940-E15E-F3A6-9E0D0E4E0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5" y="845146"/>
            <a:ext cx="4707173" cy="3495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05F69FF-1627-67B9-0D68-CEB10FF4A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12" y="1108222"/>
            <a:ext cx="2540639" cy="34956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B7BE9B-BD98-9C0F-37F2-3A628080E705}"/>
              </a:ext>
            </a:extLst>
          </p:cNvPr>
          <p:cNvSpPr txBox="1"/>
          <p:nvPr/>
        </p:nvSpPr>
        <p:spPr>
          <a:xfrm>
            <a:off x="5995989" y="862187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05F626-8896-E58F-DCD5-DAE0C7898B69}"/>
              </a:ext>
            </a:extLst>
          </p:cNvPr>
          <p:cNvSpPr txBox="1"/>
          <p:nvPr/>
        </p:nvSpPr>
        <p:spPr>
          <a:xfrm>
            <a:off x="2586425" y="3059668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2</a:t>
            </a:r>
            <a:endParaRPr lang="ko-KR" altLang="en-US" b="1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BEB81FE-82DD-B46F-0C4A-BF67F0322ACA}"/>
              </a:ext>
            </a:extLst>
          </p:cNvPr>
          <p:cNvCxnSpPr>
            <a:cxnSpLocks/>
          </p:cNvCxnSpPr>
          <p:nvPr/>
        </p:nvCxnSpPr>
        <p:spPr>
          <a:xfrm>
            <a:off x="5715000" y="1352550"/>
            <a:ext cx="481012" cy="142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E83E920-BC25-1723-4743-A5EE00D93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387" y="1982771"/>
            <a:ext cx="3528101" cy="2548923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1385D47-B4F2-BC24-BF8A-A71631CBDFAE}"/>
              </a:ext>
            </a:extLst>
          </p:cNvPr>
          <p:cNvCxnSpPr>
            <a:cxnSpLocks/>
          </p:cNvCxnSpPr>
          <p:nvPr/>
        </p:nvCxnSpPr>
        <p:spPr>
          <a:xfrm>
            <a:off x="3304895" y="3244334"/>
            <a:ext cx="46389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D481FA4-82A4-739D-00ED-454257407546}"/>
              </a:ext>
            </a:extLst>
          </p:cNvPr>
          <p:cNvSpPr txBox="1"/>
          <p:nvPr/>
        </p:nvSpPr>
        <p:spPr>
          <a:xfrm>
            <a:off x="8073403" y="1973169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908329-5EBF-B915-6EA1-02B3CE7B24B1}"/>
              </a:ext>
            </a:extLst>
          </p:cNvPr>
          <p:cNvSpPr txBox="1"/>
          <p:nvPr/>
        </p:nvSpPr>
        <p:spPr>
          <a:xfrm>
            <a:off x="5176519" y="1046853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BD2494-7ED2-ECF6-3422-BE1A5CA4BECC}"/>
              </a:ext>
            </a:extLst>
          </p:cNvPr>
          <p:cNvSpPr txBox="1"/>
          <p:nvPr/>
        </p:nvSpPr>
        <p:spPr>
          <a:xfrm>
            <a:off x="5109927" y="2775600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245112-4C26-3CE3-06AD-A6C1EE7C0E8E}"/>
              </a:ext>
            </a:extLst>
          </p:cNvPr>
          <p:cNvSpPr/>
          <p:nvPr/>
        </p:nvSpPr>
        <p:spPr>
          <a:xfrm>
            <a:off x="5427643" y="2881852"/>
            <a:ext cx="173057" cy="284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ECE7889-FE59-BE7B-655E-D40B06D9A9DE}"/>
              </a:ext>
            </a:extLst>
          </p:cNvPr>
          <p:cNvSpPr/>
          <p:nvPr/>
        </p:nvSpPr>
        <p:spPr>
          <a:xfrm>
            <a:off x="2863230" y="3144931"/>
            <a:ext cx="537195" cy="207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C4FB78-BDD4-ECB6-2701-CAC02AE67615}"/>
              </a:ext>
            </a:extLst>
          </p:cNvPr>
          <p:cNvSpPr/>
          <p:nvPr/>
        </p:nvSpPr>
        <p:spPr>
          <a:xfrm>
            <a:off x="5457021" y="1156388"/>
            <a:ext cx="338237" cy="2182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66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584883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공지사항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API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cop/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selectBoardList.do?bbsId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=BBSMSTR_AAAAAAAAAAAA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5162173"/>
            <a:ext cx="4720233" cy="166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현재는 사용자도 공지사항을 등록할 수 있음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-&gt; </a:t>
            </a:r>
            <a:b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사용자인 경우 등록 버튼 안보이도록 처리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 불가하도록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자신이 작성한 글만 수정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삭제 가능하도록 되어 있음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-&gt;</a:t>
            </a:r>
            <a:b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관리자만 등록 가능하도록 처리만 하면 될지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아니면 관리자는 모든 글을 수정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삭제 가능하도록 별도로 작업을 해야 할지 확인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공지사항은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답글작성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기능이 필요 없음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답글 작성 버튼 없애기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목록 버튼 클릭 시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페이지로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돌아감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페이지 기억했다가 해당 페이지 제공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돋보기 대신 조회 버튼 추가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0" y="4866974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FE9D1D1-629E-CC87-044D-DB1E2C28A68B}"/>
              </a:ext>
            </a:extLst>
          </p:cNvPr>
          <p:cNvSpPr txBox="1"/>
          <p:nvPr/>
        </p:nvSpPr>
        <p:spPr>
          <a:xfrm>
            <a:off x="6096000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0E6EF-A0E3-BF7F-9A28-12AFB31BE080}"/>
              </a:ext>
            </a:extLst>
          </p:cNvPr>
          <p:cNvSpPr txBox="1"/>
          <p:nvPr/>
        </p:nvSpPr>
        <p:spPr>
          <a:xfrm>
            <a:off x="6109691" y="5162173"/>
            <a:ext cx="4510683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사용자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ver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 버튼 안보이게 처리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조회만 가능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&lt;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 </a:t>
            </a:r>
            <a:r>
              <a:rPr lang="en-US" altLang="ko-KR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ver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등록 버튼 제공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7DB57D-EE48-A4AF-E3CD-0003A561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8" y="936686"/>
            <a:ext cx="5079447" cy="365563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564D47-C045-F0DC-E287-95B67EA4E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13" y="936686"/>
            <a:ext cx="4014980" cy="30908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C03279-326B-B03D-8647-4823E6752A5E}"/>
              </a:ext>
            </a:extLst>
          </p:cNvPr>
          <p:cNvSpPr txBox="1"/>
          <p:nvPr/>
        </p:nvSpPr>
        <p:spPr>
          <a:xfrm>
            <a:off x="4319269" y="2403034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14543D-3FEA-37ED-D748-58E3E45D9035}"/>
              </a:ext>
            </a:extLst>
          </p:cNvPr>
          <p:cNvSpPr/>
          <p:nvPr/>
        </p:nvSpPr>
        <p:spPr>
          <a:xfrm>
            <a:off x="4599771" y="2512569"/>
            <a:ext cx="505629" cy="2597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5D0140-88B7-6226-3825-425930B3A86D}"/>
              </a:ext>
            </a:extLst>
          </p:cNvPr>
          <p:cNvSpPr txBox="1"/>
          <p:nvPr/>
        </p:nvSpPr>
        <p:spPr>
          <a:xfrm>
            <a:off x="6038850" y="3596568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13AB25-5F7F-F023-BAA2-5CFA30DBDD7D}"/>
              </a:ext>
            </a:extLst>
          </p:cNvPr>
          <p:cNvSpPr/>
          <p:nvPr/>
        </p:nvSpPr>
        <p:spPr>
          <a:xfrm>
            <a:off x="6319352" y="3706103"/>
            <a:ext cx="919648" cy="2597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2A2D9D-E58E-3A18-6EE7-FC71649A7BFD}"/>
              </a:ext>
            </a:extLst>
          </p:cNvPr>
          <p:cNvSpPr txBox="1"/>
          <p:nvPr/>
        </p:nvSpPr>
        <p:spPr>
          <a:xfrm>
            <a:off x="7239000" y="3384108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45DAFE-E2CF-6CAC-7100-16A9DA5562E1}"/>
              </a:ext>
            </a:extLst>
          </p:cNvPr>
          <p:cNvSpPr txBox="1"/>
          <p:nvPr/>
        </p:nvSpPr>
        <p:spPr>
          <a:xfrm>
            <a:off x="9334500" y="3621149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</a:t>
            </a:r>
            <a:endParaRPr lang="ko-KR" altLang="en-US" b="1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5AC1398-9EB4-7E5C-8F03-1DCB36B55376}"/>
              </a:ext>
            </a:extLst>
          </p:cNvPr>
          <p:cNvCxnSpPr>
            <a:cxnSpLocks/>
          </p:cNvCxnSpPr>
          <p:nvPr/>
        </p:nvCxnSpPr>
        <p:spPr>
          <a:xfrm flipV="1">
            <a:off x="2533650" y="2702424"/>
            <a:ext cx="3822916" cy="68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1C6D4E-CB5F-1DA2-2A1C-01C542EEDDB5}"/>
              </a:ext>
            </a:extLst>
          </p:cNvPr>
          <p:cNvSpPr/>
          <p:nvPr/>
        </p:nvSpPr>
        <p:spPr>
          <a:xfrm>
            <a:off x="1942907" y="3233389"/>
            <a:ext cx="537195" cy="207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2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751047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업무게시판 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API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cop/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selectBoardList.do?bbsId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=BBSMSTR_AAAAAAAAAAAA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5162173"/>
            <a:ext cx="4720233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목록 버튼 클릭 시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페이지로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돌아감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페이지 기억했다가 해당 페이지 제공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조회 버튼 추가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0" y="4866974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FE9D1D1-629E-CC87-044D-DB1E2C28A68B}"/>
              </a:ext>
            </a:extLst>
          </p:cNvPr>
          <p:cNvSpPr txBox="1"/>
          <p:nvPr/>
        </p:nvSpPr>
        <p:spPr>
          <a:xfrm>
            <a:off x="6096000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0E6EF-A0E3-BF7F-9A28-12AFB31BE080}"/>
              </a:ext>
            </a:extLst>
          </p:cNvPr>
          <p:cNvSpPr txBox="1"/>
          <p:nvPr/>
        </p:nvSpPr>
        <p:spPr>
          <a:xfrm>
            <a:off x="6109691" y="5162173"/>
            <a:ext cx="4510683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관리자는 모든 글을 삭제 가능한지 확인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7DB57D-EE48-A4AF-E3CD-0003A561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8" y="936686"/>
            <a:ext cx="5079447" cy="365563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564D47-C045-F0DC-E287-95B67EA4E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13" y="936686"/>
            <a:ext cx="4014980" cy="30908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C03279-326B-B03D-8647-4823E6752A5E}"/>
              </a:ext>
            </a:extLst>
          </p:cNvPr>
          <p:cNvSpPr txBox="1"/>
          <p:nvPr/>
        </p:nvSpPr>
        <p:spPr>
          <a:xfrm>
            <a:off x="4319269" y="2403034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14543D-3FEA-37ED-D748-58E3E45D9035}"/>
              </a:ext>
            </a:extLst>
          </p:cNvPr>
          <p:cNvSpPr/>
          <p:nvPr/>
        </p:nvSpPr>
        <p:spPr>
          <a:xfrm>
            <a:off x="4599771" y="2512569"/>
            <a:ext cx="505629" cy="2597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5D0140-88B7-6226-3825-425930B3A86D}"/>
              </a:ext>
            </a:extLst>
          </p:cNvPr>
          <p:cNvSpPr txBox="1"/>
          <p:nvPr/>
        </p:nvSpPr>
        <p:spPr>
          <a:xfrm>
            <a:off x="6038850" y="3596568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13AB25-5F7F-F023-BAA2-5CFA30DBDD7D}"/>
              </a:ext>
            </a:extLst>
          </p:cNvPr>
          <p:cNvSpPr/>
          <p:nvPr/>
        </p:nvSpPr>
        <p:spPr>
          <a:xfrm>
            <a:off x="6319352" y="3706103"/>
            <a:ext cx="919648" cy="2597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2A2D9D-E58E-3A18-6EE7-FC71649A7BFD}"/>
              </a:ext>
            </a:extLst>
          </p:cNvPr>
          <p:cNvSpPr txBox="1"/>
          <p:nvPr/>
        </p:nvSpPr>
        <p:spPr>
          <a:xfrm>
            <a:off x="7239000" y="3384108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45DAFE-E2CF-6CAC-7100-16A9DA5562E1}"/>
              </a:ext>
            </a:extLst>
          </p:cNvPr>
          <p:cNvSpPr txBox="1"/>
          <p:nvPr/>
        </p:nvSpPr>
        <p:spPr>
          <a:xfrm>
            <a:off x="9334500" y="3621149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</a:t>
            </a:r>
            <a:endParaRPr lang="ko-KR" altLang="en-US" b="1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5AC1398-9EB4-7E5C-8F03-1DCB36B55376}"/>
              </a:ext>
            </a:extLst>
          </p:cNvPr>
          <p:cNvCxnSpPr>
            <a:cxnSpLocks/>
          </p:cNvCxnSpPr>
          <p:nvPr/>
        </p:nvCxnSpPr>
        <p:spPr>
          <a:xfrm flipV="1">
            <a:off x="2533650" y="2702424"/>
            <a:ext cx="3822916" cy="68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1C6D4E-CB5F-1DA2-2A1C-01C542EEDDB5}"/>
              </a:ext>
            </a:extLst>
          </p:cNvPr>
          <p:cNvSpPr/>
          <p:nvPr/>
        </p:nvSpPr>
        <p:spPr>
          <a:xfrm>
            <a:off x="1942907" y="3233389"/>
            <a:ext cx="537195" cy="207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458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657565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공지사항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업무게시판 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API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cop/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selectBoardList.do?bbsId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=BBSMSTR_AAAAAAAAAAAA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105B2CA-F1DD-9E04-93D4-EE66EB2282CB}"/>
              </a:ext>
            </a:extLst>
          </p:cNvPr>
          <p:cNvSpPr txBox="1"/>
          <p:nvPr/>
        </p:nvSpPr>
        <p:spPr>
          <a:xfrm>
            <a:off x="371475" y="1040942"/>
            <a:ext cx="17478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서비스 수정사항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235F0-2091-2D15-06DD-3D86041A6BCF}"/>
              </a:ext>
            </a:extLst>
          </p:cNvPr>
          <p:cNvSpPr txBox="1"/>
          <p:nvPr/>
        </p:nvSpPr>
        <p:spPr>
          <a:xfrm>
            <a:off x="385167" y="1280605"/>
            <a:ext cx="4510683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공지사항과 업무게시판이 같은 서비스 로직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같은 </a:t>
            </a:r>
            <a:r>
              <a:rPr lang="en-US" altLang="ko-KR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jsp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파일을 사용하고 있음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API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재정의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 API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분리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 JSP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분리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84743A4-08C1-A191-72E1-D07479227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400432"/>
              </p:ext>
            </p:extLst>
          </p:nvPr>
        </p:nvGraphicFramePr>
        <p:xfrm>
          <a:off x="371476" y="1943280"/>
          <a:ext cx="11464449" cy="2971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016">
                  <a:extLst>
                    <a:ext uri="{9D8B030D-6E8A-4147-A177-3AD203B41FA5}">
                      <a16:colId xmlns:a16="http://schemas.microsoft.com/office/drawing/2014/main" val="4021824609"/>
                    </a:ext>
                  </a:extLst>
                </a:gridCol>
                <a:gridCol w="632388">
                  <a:extLst>
                    <a:ext uri="{9D8B030D-6E8A-4147-A177-3AD203B41FA5}">
                      <a16:colId xmlns:a16="http://schemas.microsoft.com/office/drawing/2014/main" val="407992617"/>
                    </a:ext>
                  </a:extLst>
                </a:gridCol>
                <a:gridCol w="529840">
                  <a:extLst>
                    <a:ext uri="{9D8B030D-6E8A-4147-A177-3AD203B41FA5}">
                      <a16:colId xmlns:a16="http://schemas.microsoft.com/office/drawing/2014/main" val="2758787173"/>
                    </a:ext>
                  </a:extLst>
                </a:gridCol>
                <a:gridCol w="777667">
                  <a:extLst>
                    <a:ext uri="{9D8B030D-6E8A-4147-A177-3AD203B41FA5}">
                      <a16:colId xmlns:a16="http://schemas.microsoft.com/office/drawing/2014/main" val="3984235902"/>
                    </a:ext>
                  </a:extLst>
                </a:gridCol>
                <a:gridCol w="837488">
                  <a:extLst>
                    <a:ext uri="{9D8B030D-6E8A-4147-A177-3AD203B41FA5}">
                      <a16:colId xmlns:a16="http://schemas.microsoft.com/office/drawing/2014/main" val="2392673329"/>
                    </a:ext>
                  </a:extLst>
                </a:gridCol>
                <a:gridCol w="2964184">
                  <a:extLst>
                    <a:ext uri="{9D8B030D-6E8A-4147-A177-3AD203B41FA5}">
                      <a16:colId xmlns:a16="http://schemas.microsoft.com/office/drawing/2014/main" val="3320597479"/>
                    </a:ext>
                  </a:extLst>
                </a:gridCol>
                <a:gridCol w="3564803">
                  <a:extLst>
                    <a:ext uri="{9D8B030D-6E8A-4147-A177-3AD203B41FA5}">
                      <a16:colId xmlns:a16="http://schemas.microsoft.com/office/drawing/2014/main" val="2921010774"/>
                    </a:ext>
                  </a:extLst>
                </a:gridCol>
                <a:gridCol w="1598063">
                  <a:extLst>
                    <a:ext uri="{9D8B030D-6E8A-4147-A177-3AD203B41FA5}">
                      <a16:colId xmlns:a16="http://schemas.microsoft.com/office/drawing/2014/main" val="4158833033"/>
                    </a:ext>
                  </a:extLst>
                </a:gridCol>
              </a:tblGrid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 조회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r>
                        <a:rPr lang="en-US" altLang="ko-KR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 목록 조회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cop/bbs/selectBoardList.do?bbsId=BBSMSTR_AAAAAAAAAAAA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cop/bbs/EgovNoticeList.jsp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2992483432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 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cop/bbs/addBoardArticle.do?bbsId=BBSMSTR_AAAAAAAAAAAA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cop/bbs/EgovNoticeRegist.jsp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2123333231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답글등록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 답글작성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cop/bbs/addReplyBoardArticle.do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cop/bbs/EgovNoticeReply.jsp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1649304051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저장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 저장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cop/bbs/insertBoardArticle.do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2975192923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 수정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cop/bbs/forUpdateBoardArticle.do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cop/bbs/EgovNoticeUpdt.jsp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2925404613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공지사항 삭제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cop/bbs/deleteBoardArticle.do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src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\main\java\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egovframework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\let\cop\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\web\EgovBBSManageController.java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삭제 후 </a:t>
                      </a:r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forward:/cop/bbs/selectBoardList.do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984575329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업무게시판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목록 조회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r>
                        <a:rPr lang="en-US" altLang="ko-KR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 목록 조회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cop/bbs/selectBoardList.do?bbsId=BBSMSTR_CCCCCCCCCCCC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src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\main\java\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egovframework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\let\cop\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\web\EgovBBSManageController.java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cop/bbs/EgovNoticeList.jsp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3550268230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업무게시판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r>
                        <a:rPr lang="en-US" altLang="ko-KR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 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cop/bbs/addBoardArticle.do?bbsId=BBSMSTR_CCCCCCCCCCCC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cop/bbs/EgovNoticeRegist.jsp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343044091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업무게시판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답글등록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r>
                        <a:rPr lang="en-US" altLang="ko-KR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 답글작성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cop/bbs/addReplyBoardArticle.do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src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\main\java\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egovframework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\let\cop\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\web\EgovBBSManageController.java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cop/bbs/EgovNoticeReply.jsp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3342434828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업무게시판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저장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r>
                        <a:rPr lang="en-US" altLang="ko-KR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 등록 저장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cop/bbs/insertBoardArticle.do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2738353984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업무게시판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r>
                        <a:rPr lang="en-US" altLang="ko-KR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 수정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cop/bbs/forUpdateBoardArticle.do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src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\main\java\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egovframework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\let\cop\</a:t>
                      </a:r>
                      <a:r>
                        <a:rPr lang="en-US" sz="800" u="none" strike="noStrike" dirty="0" err="1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\web\EgovBBSManageController.java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cop/bbs/EgovNoticeUpdt.jsp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1615193207"/>
                  </a:ext>
                </a:extLst>
              </a:tr>
              <a:tr h="22912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업무게시판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관리자</a:t>
                      </a:r>
                      <a:r>
                        <a:rPr lang="en-US" altLang="ko-KR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사용자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업무 삭제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cop/bbs/deleteBoardArticle.do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omcst\src\main\java\egovframework\let\cop\bbs\web\EgovBBSManageController.java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삭제 후 </a:t>
                      </a:r>
                      <a:r>
                        <a:rPr lang="en-US" sz="800" u="none" strike="noStrike" dirty="0"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forward:/cop/bbs/selectBoardList.do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780" marR="3780" marT="3780" marB="0" anchor="ctr"/>
                </a:tc>
                <a:extLst>
                  <a:ext uri="{0D108BD9-81ED-4DB2-BD59-A6C34878D82A}">
                    <a16:rowId xmlns:a16="http://schemas.microsoft.com/office/drawing/2014/main" val="1566111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18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/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알림정보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업무게시판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API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cop/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bbs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selectBoardList.do?bbsId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=BBSMSTR_AAAAAAAAAAAA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5162173"/>
            <a:ext cx="4720233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목록 버튼 클릭 시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1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페이지로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돌아감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페이지 기억했다가 해당 페이지 제공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조회 버튼 추가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0" y="4866974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FE9D1D1-629E-CC87-044D-DB1E2C28A68B}"/>
              </a:ext>
            </a:extLst>
          </p:cNvPr>
          <p:cNvSpPr txBox="1"/>
          <p:nvPr/>
        </p:nvSpPr>
        <p:spPr>
          <a:xfrm>
            <a:off x="6096000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0E6EF-A0E3-BF7F-9A28-12AFB31BE080}"/>
              </a:ext>
            </a:extLst>
          </p:cNvPr>
          <p:cNvSpPr txBox="1"/>
          <p:nvPr/>
        </p:nvSpPr>
        <p:spPr>
          <a:xfrm>
            <a:off x="6109691" y="5162173"/>
            <a:ext cx="4510683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관리자는 모든 글을 삭제 가능한지 확인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7DB57D-EE48-A4AF-E3CD-0003A561F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8" y="936686"/>
            <a:ext cx="5079447" cy="365563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564D47-C045-F0DC-E287-95B67EA4E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13" y="936686"/>
            <a:ext cx="4014980" cy="30908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9C03279-326B-B03D-8647-4823E6752A5E}"/>
              </a:ext>
            </a:extLst>
          </p:cNvPr>
          <p:cNvSpPr txBox="1"/>
          <p:nvPr/>
        </p:nvSpPr>
        <p:spPr>
          <a:xfrm>
            <a:off x="4319269" y="2403034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14543D-3FEA-37ED-D748-58E3E45D9035}"/>
              </a:ext>
            </a:extLst>
          </p:cNvPr>
          <p:cNvSpPr/>
          <p:nvPr/>
        </p:nvSpPr>
        <p:spPr>
          <a:xfrm>
            <a:off x="4599771" y="2512569"/>
            <a:ext cx="505629" cy="2597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5D0140-88B7-6226-3825-425930B3A86D}"/>
              </a:ext>
            </a:extLst>
          </p:cNvPr>
          <p:cNvSpPr txBox="1"/>
          <p:nvPr/>
        </p:nvSpPr>
        <p:spPr>
          <a:xfrm>
            <a:off x="6038850" y="3596568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13AB25-5F7F-F023-BAA2-5CFA30DBDD7D}"/>
              </a:ext>
            </a:extLst>
          </p:cNvPr>
          <p:cNvSpPr/>
          <p:nvPr/>
        </p:nvSpPr>
        <p:spPr>
          <a:xfrm>
            <a:off x="6319352" y="3706103"/>
            <a:ext cx="919648" cy="2597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2A2D9D-E58E-3A18-6EE7-FC71649A7BFD}"/>
              </a:ext>
            </a:extLst>
          </p:cNvPr>
          <p:cNvSpPr txBox="1"/>
          <p:nvPr/>
        </p:nvSpPr>
        <p:spPr>
          <a:xfrm>
            <a:off x="7239000" y="3384108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45DAFE-E2CF-6CAC-7100-16A9DA5562E1}"/>
              </a:ext>
            </a:extLst>
          </p:cNvPr>
          <p:cNvSpPr txBox="1"/>
          <p:nvPr/>
        </p:nvSpPr>
        <p:spPr>
          <a:xfrm>
            <a:off x="9334500" y="3621149"/>
            <a:ext cx="31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</a:t>
            </a:r>
            <a:endParaRPr lang="ko-KR" altLang="en-US" b="1" dirty="0"/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5AC1398-9EB4-7E5C-8F03-1DCB36B55376}"/>
              </a:ext>
            </a:extLst>
          </p:cNvPr>
          <p:cNvCxnSpPr>
            <a:cxnSpLocks/>
          </p:cNvCxnSpPr>
          <p:nvPr/>
        </p:nvCxnSpPr>
        <p:spPr>
          <a:xfrm flipV="1">
            <a:off x="2533650" y="2702424"/>
            <a:ext cx="3822916" cy="68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1C6D4E-CB5F-1DA2-2A1C-01C542EEDDB5}"/>
              </a:ext>
            </a:extLst>
          </p:cNvPr>
          <p:cNvSpPr/>
          <p:nvPr/>
        </p:nvSpPr>
        <p:spPr>
          <a:xfrm>
            <a:off x="1942907" y="3233389"/>
            <a:ext cx="537195" cy="2078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486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/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직급체계관리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입퇴사정보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직급정보 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직위정보 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5162173"/>
            <a:ext cx="4720233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직급체계관리는 별도 메뉴로 두지 않고 내부시스템관리 하위 항목으로 적용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0" y="4866974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6EB2C16B-6536-3962-FF8A-30B6818C0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67" y="947452"/>
            <a:ext cx="4942940" cy="3442633"/>
          </a:xfrm>
          <a:prstGeom prst="rect">
            <a:avLst/>
          </a:prstGeom>
        </p:spPr>
      </p:pic>
      <p:sp>
        <p:nvSpPr>
          <p:cNvPr id="11" name="곱하기 기호 10">
            <a:extLst>
              <a:ext uri="{FF2B5EF4-FFF2-40B4-BE49-F238E27FC236}">
                <a16:creationId xmlns:a16="http://schemas.microsoft.com/office/drawing/2014/main" id="{0B9EF53D-1A38-6316-19E3-09CB4313CD31}"/>
              </a:ext>
            </a:extLst>
          </p:cNvPr>
          <p:cNvSpPr/>
          <p:nvPr/>
        </p:nvSpPr>
        <p:spPr>
          <a:xfrm>
            <a:off x="5651242" y="1054360"/>
            <a:ext cx="4124131" cy="3690868"/>
          </a:xfrm>
          <a:prstGeom prst="mathMultiply">
            <a:avLst>
              <a:gd name="adj1" fmla="val 9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78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41485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12">
            <a:extLst>
              <a:ext uri="{FF2B5EF4-FFF2-40B4-BE49-F238E27FC236}">
                <a16:creationId xmlns:a16="http://schemas.microsoft.com/office/drawing/2014/main" id="{68166370-B4FA-80DF-2A39-2F8E7EA83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885716"/>
              </p:ext>
            </p:extLst>
          </p:nvPr>
        </p:nvGraphicFramePr>
        <p:xfrm>
          <a:off x="1106777" y="2084365"/>
          <a:ext cx="1234451" cy="134790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34451">
                  <a:extLst>
                    <a:ext uri="{9D8B030D-6E8A-4147-A177-3AD203B41FA5}">
                      <a16:colId xmlns:a16="http://schemas.microsoft.com/office/drawing/2014/main" val="2772788843"/>
                    </a:ext>
                  </a:extLst>
                </a:gridCol>
              </a:tblGrid>
              <a:tr h="2773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휴가신청관리</a:t>
                      </a:r>
                    </a:p>
                  </a:txBody>
                  <a:tcPr marL="68880" marR="68880" marT="34439" marB="3443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29986"/>
                  </a:ext>
                </a:extLst>
              </a:tr>
              <a:tr h="10705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</a:t>
                      </a:r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algn="ctr" latinLnBrk="1"/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algn="ctr" latinLnBrk="1"/>
                      <a:r>
                        <a:rPr lang="ko-KR" altLang="en-US" sz="11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휴가결재현황</a:t>
                      </a:r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algn="ctr" latinLnBrk="1"/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algn="ctr" latinLnBrk="1"/>
                      <a:r>
                        <a:rPr lang="ko-KR" altLang="en-US" sz="11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휴가사용현황</a:t>
                      </a:r>
                    </a:p>
                  </a:txBody>
                  <a:tcPr marL="68880" marR="68880" marT="34439" marB="3443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4999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13252DC-44B9-B293-6FE5-696F9031E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32252"/>
              </p:ext>
            </p:extLst>
          </p:nvPr>
        </p:nvGraphicFramePr>
        <p:xfrm>
          <a:off x="1106776" y="3700192"/>
          <a:ext cx="1234451" cy="125982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34451">
                  <a:extLst>
                    <a:ext uri="{9D8B030D-6E8A-4147-A177-3AD203B41FA5}">
                      <a16:colId xmlns:a16="http://schemas.microsoft.com/office/drawing/2014/main" val="2772788843"/>
                    </a:ext>
                  </a:extLst>
                </a:gridCol>
              </a:tblGrid>
              <a:tr h="2773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휴가결재관리</a:t>
                      </a:r>
                      <a:endParaRPr lang="ko-KR" altLang="en-US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68880" marR="68880" marT="34439" marB="3443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929986"/>
                  </a:ext>
                </a:extLst>
              </a:tr>
              <a:tr h="9824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휴가결재목록</a:t>
                      </a:r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algn="ctr" latinLnBrk="1"/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algn="ctr" latinLnBrk="1"/>
                      <a:r>
                        <a:rPr lang="ko-KR" altLang="en-US" sz="11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휴가정보관리</a:t>
                      </a:r>
                      <a:endParaRPr lang="en-US" altLang="ko-KR" sz="11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68880" marR="68880" marT="34439" marB="34439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84999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AEC497D-F9BC-CAB3-F08D-2C6FA0E0498C}"/>
              </a:ext>
            </a:extLst>
          </p:cNvPr>
          <p:cNvSpPr txBox="1"/>
          <p:nvPr/>
        </p:nvSpPr>
        <p:spPr>
          <a:xfrm>
            <a:off x="2720116" y="2084365"/>
            <a:ext cx="610299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사용자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관리자 모두 제공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휴가를 신청하는 페이지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신청한 휴가의 승인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반려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미결재 등 프로세스 상태 조회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생성연차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잔여연차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100" dirty="0" err="1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사용연차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 등 연차 수에 대한 정보 확인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FAA4B9-2FA6-2F7F-55EE-F5EE23A51DEA}"/>
              </a:ext>
            </a:extLst>
          </p:cNvPr>
          <p:cNvSpPr txBox="1"/>
          <p:nvPr/>
        </p:nvSpPr>
        <p:spPr>
          <a:xfrm>
            <a:off x="2720116" y="3672200"/>
            <a:ext cx="610299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관리자 제공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결재 </a:t>
            </a:r>
            <a:r>
              <a:rPr lang="ko-KR" altLang="en-US" sz="10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해야하는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 휴가 목록 조회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직원 연차 일수 조회 및 수정 가능 </a:t>
            </a:r>
            <a:endParaRPr lang="en-US" altLang="ko-KR" sz="10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C13A2-45C0-C0E6-9B1D-9C33182834EB}"/>
              </a:ext>
            </a:extLst>
          </p:cNvPr>
          <p:cNvSpPr txBox="1"/>
          <p:nvPr/>
        </p:nvSpPr>
        <p:spPr>
          <a:xfrm>
            <a:off x="666924" y="1266516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1429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그림 82">
            <a:extLst>
              <a:ext uri="{FF2B5EF4-FFF2-40B4-BE49-F238E27FC236}">
                <a16:creationId xmlns:a16="http://schemas.microsoft.com/office/drawing/2014/main" id="{FF4E7328-B10D-EB94-3CAA-CAA239F9E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1" y="1143651"/>
            <a:ext cx="7149225" cy="4169729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DD32F95-22F4-B89A-8120-7B208EA880A6}"/>
              </a:ext>
            </a:extLst>
          </p:cNvPr>
          <p:cNvGrpSpPr/>
          <p:nvPr/>
        </p:nvGrpSpPr>
        <p:grpSpPr>
          <a:xfrm>
            <a:off x="445891" y="2114589"/>
            <a:ext cx="1718810" cy="3206173"/>
            <a:chOff x="445891" y="2114589"/>
            <a:chExt cx="1718810" cy="3206173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F92B4CC-757B-736D-72F7-4EE524F9A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2987" r="77431" b="60760"/>
            <a:stretch/>
          </p:blipFill>
          <p:spPr>
            <a:xfrm>
              <a:off x="445892" y="2114589"/>
              <a:ext cx="1718809" cy="721917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D82225B5-FAD4-D706-215D-925EE811D2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441" r="77431"/>
            <a:stretch/>
          </p:blipFill>
          <p:spPr>
            <a:xfrm>
              <a:off x="445891" y="2808513"/>
              <a:ext cx="1718809" cy="2512249"/>
            </a:xfrm>
            <a:prstGeom prst="rect">
              <a:avLst/>
            </a:prstGeom>
          </p:spPr>
        </p:pic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739922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1801AA55-2ACA-A294-DB4B-4F4BCCE25799}"/>
              </a:ext>
            </a:extLst>
          </p:cNvPr>
          <p:cNvSpPr/>
          <p:nvPr/>
        </p:nvSpPr>
        <p:spPr>
          <a:xfrm>
            <a:off x="2379306" y="3228515"/>
            <a:ext cx="5103845" cy="1959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CD87C37D-3720-4CE8-5B6E-8611FE0847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574"/>
          <a:stretch/>
        </p:blipFill>
        <p:spPr>
          <a:xfrm>
            <a:off x="2551903" y="3344744"/>
            <a:ext cx="3755952" cy="975330"/>
          </a:xfrm>
          <a:prstGeom prst="rect">
            <a:avLst/>
          </a:prstGeom>
        </p:spPr>
      </p:pic>
      <p:grpSp>
        <p:nvGrpSpPr>
          <p:cNvPr id="87" name="그룹 86">
            <a:extLst>
              <a:ext uri="{FF2B5EF4-FFF2-40B4-BE49-F238E27FC236}">
                <a16:creationId xmlns:a16="http://schemas.microsoft.com/office/drawing/2014/main" id="{39302934-D549-F3AB-B8F2-E5A25A16ED9F}"/>
              </a:ext>
            </a:extLst>
          </p:cNvPr>
          <p:cNvGrpSpPr/>
          <p:nvPr/>
        </p:nvGrpSpPr>
        <p:grpSpPr>
          <a:xfrm>
            <a:off x="7645240" y="3161964"/>
            <a:ext cx="3475715" cy="1582269"/>
            <a:chOff x="7021896" y="1284363"/>
            <a:chExt cx="3475715" cy="1582269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C3B6AE55-9202-2C14-8F74-23C9345529BD}"/>
                </a:ext>
              </a:extLst>
            </p:cNvPr>
            <p:cNvGrpSpPr/>
            <p:nvPr/>
          </p:nvGrpSpPr>
          <p:grpSpPr>
            <a:xfrm>
              <a:off x="7021897" y="1284363"/>
              <a:ext cx="3475714" cy="248881"/>
              <a:chOff x="7021897" y="1284363"/>
              <a:chExt cx="3475714" cy="248881"/>
            </a:xfrm>
          </p:grpSpPr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86449DA2-D6D1-1E43-55B6-65599E8512FA}"/>
                  </a:ext>
                </a:extLst>
              </p:cNvPr>
              <p:cNvGrpSpPr/>
              <p:nvPr/>
            </p:nvGrpSpPr>
            <p:grpSpPr>
              <a:xfrm>
                <a:off x="7106851" y="1284363"/>
                <a:ext cx="3390760" cy="248881"/>
                <a:chOff x="6509020" y="1310221"/>
                <a:chExt cx="5190757" cy="381000"/>
              </a:xfrm>
            </p:grpSpPr>
            <p:pic>
              <p:nvPicPr>
                <p:cNvPr id="92" name="그림 91">
                  <a:extLst>
                    <a:ext uri="{FF2B5EF4-FFF2-40B4-BE49-F238E27FC236}">
                      <a16:creationId xmlns:a16="http://schemas.microsoft.com/office/drawing/2014/main" id="{87291EC6-D79E-D066-9EED-CF69949B10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30991" y="1310221"/>
                  <a:ext cx="2968786" cy="381000"/>
                </a:xfrm>
                <a:prstGeom prst="rect">
                  <a:avLst/>
                </a:prstGeom>
              </p:spPr>
            </p:pic>
            <p:pic>
              <p:nvPicPr>
                <p:cNvPr id="93" name="그림 92">
                  <a:extLst>
                    <a:ext uri="{FF2B5EF4-FFF2-40B4-BE49-F238E27FC236}">
                      <a16:creationId xmlns:a16="http://schemas.microsoft.com/office/drawing/2014/main" id="{023140EB-145E-BD6D-05B2-AA6F21442A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09020" y="1329271"/>
                  <a:ext cx="2221971" cy="361950"/>
                </a:xfrm>
                <a:prstGeom prst="rect">
                  <a:avLst/>
                </a:prstGeom>
              </p:spPr>
            </p:pic>
          </p:grp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A692D68-D966-1BF3-C71E-1F8E1D5FAD2D}"/>
                  </a:ext>
                </a:extLst>
              </p:cNvPr>
              <p:cNvSpPr txBox="1"/>
              <p:nvPr/>
            </p:nvSpPr>
            <p:spPr>
              <a:xfrm>
                <a:off x="7021897" y="1296807"/>
                <a:ext cx="681134" cy="184666"/>
              </a:xfrm>
              <a:prstGeom prst="rect">
                <a:avLst/>
              </a:prstGeom>
              <a:solidFill>
                <a:srgbClr val="EAEAEA"/>
              </a:solidFill>
            </p:spPr>
            <p:txBody>
              <a:bodyPr wrap="square">
                <a:spAutoFit/>
              </a:bodyPr>
              <a:lstStyle/>
              <a:p>
                <a:r>
                  <a:rPr lang="ko-KR" altLang="en-US" sz="6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나눔고딕" pitchFamily="2" charset="-127"/>
                    <a:ea typeface="나눔고딕" pitchFamily="2" charset="-127"/>
                  </a:rPr>
                  <a:t>부서</a:t>
                </a:r>
                <a:endParaRPr lang="ko-KR" altLang="en-US" sz="600" dirty="0"/>
              </a:p>
            </p:txBody>
          </p:sp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58E0EE11-6884-213D-1A2A-B5BBB36BD8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490"/>
            <a:stretch/>
          </p:blipFill>
          <p:spPr>
            <a:xfrm>
              <a:off x="7021896" y="1515603"/>
              <a:ext cx="3447653" cy="1351029"/>
            </a:xfrm>
            <a:prstGeom prst="rect">
              <a:avLst/>
            </a:prstGeom>
          </p:spPr>
        </p:pic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59517E7F-187F-143C-5FC2-869EB48FCCB0}"/>
              </a:ext>
            </a:extLst>
          </p:cNvPr>
          <p:cNvCxnSpPr/>
          <p:nvPr/>
        </p:nvCxnSpPr>
        <p:spPr>
          <a:xfrm flipV="1">
            <a:off x="6353294" y="3525366"/>
            <a:ext cx="1119674" cy="194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A29727B-A81B-FD7A-0A86-C372B1E4BE92}"/>
              </a:ext>
            </a:extLst>
          </p:cNvPr>
          <p:cNvSpPr/>
          <p:nvPr/>
        </p:nvSpPr>
        <p:spPr>
          <a:xfrm>
            <a:off x="653143" y="2603241"/>
            <a:ext cx="1362269" cy="20527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B547EAF-1B38-7BD2-7FAB-20C5B6619B3F}"/>
              </a:ext>
            </a:extLst>
          </p:cNvPr>
          <p:cNvSpPr/>
          <p:nvPr/>
        </p:nvSpPr>
        <p:spPr>
          <a:xfrm>
            <a:off x="653142" y="3361187"/>
            <a:ext cx="1362269" cy="132278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A39AF3-DBB4-AD47-EC92-75CF1B80A59F}"/>
              </a:ext>
            </a:extLst>
          </p:cNvPr>
          <p:cNvSpPr txBox="1"/>
          <p:nvPr/>
        </p:nvSpPr>
        <p:spPr>
          <a:xfrm>
            <a:off x="659539" y="4744233"/>
            <a:ext cx="1735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사용자한테는 안보임</a:t>
            </a:r>
          </a:p>
        </p:txBody>
      </p:sp>
      <p:pic>
        <p:nvPicPr>
          <p:cNvPr id="99" name="그림 98">
            <a:extLst>
              <a:ext uri="{FF2B5EF4-FFF2-40B4-BE49-F238E27FC236}">
                <a16:creationId xmlns:a16="http://schemas.microsoft.com/office/drawing/2014/main" id="{0A9D4010-36D0-BFBC-6664-0F84FA9A45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547"/>
          <a:stretch/>
        </p:blipFill>
        <p:spPr>
          <a:xfrm>
            <a:off x="2541396" y="4283833"/>
            <a:ext cx="3755952" cy="1217232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734DC89A-2DAF-B63E-22DD-6A1B4207B3CF}"/>
              </a:ext>
            </a:extLst>
          </p:cNvPr>
          <p:cNvSpPr txBox="1"/>
          <p:nvPr/>
        </p:nvSpPr>
        <p:spPr>
          <a:xfrm>
            <a:off x="1433281" y="1678045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1162E4E-3C33-813D-9F07-794A865E160D}"/>
              </a:ext>
            </a:extLst>
          </p:cNvPr>
          <p:cNvSpPr txBox="1"/>
          <p:nvPr/>
        </p:nvSpPr>
        <p:spPr>
          <a:xfrm>
            <a:off x="983946" y="2092220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8E4A0D8-544E-D058-BE73-337278FC04A8}"/>
              </a:ext>
            </a:extLst>
          </p:cNvPr>
          <p:cNvSpPr txBox="1"/>
          <p:nvPr/>
        </p:nvSpPr>
        <p:spPr>
          <a:xfrm>
            <a:off x="1034291" y="3051055"/>
            <a:ext cx="79798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연차현황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85F23D66-A159-37C8-1D63-DE47F50917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4158" y="1664476"/>
            <a:ext cx="2143125" cy="314325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2C32B294-B0BC-B910-951E-4916D562B67E}"/>
              </a:ext>
            </a:extLst>
          </p:cNvPr>
          <p:cNvSpPr txBox="1"/>
          <p:nvPr/>
        </p:nvSpPr>
        <p:spPr>
          <a:xfrm>
            <a:off x="4382601" y="1680495"/>
            <a:ext cx="97317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ko-KR" altLang="en-US" sz="1000" dirty="0"/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080B8677-0ACC-8D26-DE02-4C555A1359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092" y="1597384"/>
            <a:ext cx="6572250" cy="381000"/>
          </a:xfrm>
          <a:prstGeom prst="rect">
            <a:avLst/>
          </a:prstGeom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C342E390-C588-5783-0543-7D4415F63E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426" y="3428996"/>
            <a:ext cx="1103091" cy="11192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058FB-C80A-498E-2264-E6E1E7B97F51}"/>
              </a:ext>
            </a:extLst>
          </p:cNvPr>
          <p:cNvSpPr txBox="1"/>
          <p:nvPr/>
        </p:nvSpPr>
        <p:spPr>
          <a:xfrm>
            <a:off x="7558270" y="2572648"/>
            <a:ext cx="252625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b="1"/>
              <a:t>사용자 조회 팝업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07F42-EEDC-C08D-2307-11AD3007AC59}"/>
              </a:ext>
            </a:extLst>
          </p:cNvPr>
          <p:cNvSpPr txBox="1"/>
          <p:nvPr/>
        </p:nvSpPr>
        <p:spPr>
          <a:xfrm>
            <a:off x="3264638" y="2897167"/>
            <a:ext cx="252625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휴가 신청 페이지</a:t>
            </a:r>
          </a:p>
        </p:txBody>
      </p:sp>
    </p:spTree>
    <p:extLst>
      <p:ext uri="{BB962C8B-B14F-4D97-AF65-F5344CB8AC3E}">
        <p14:creationId xmlns:p14="http://schemas.microsoft.com/office/powerpoint/2010/main" val="583913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그림 82">
            <a:extLst>
              <a:ext uri="{FF2B5EF4-FFF2-40B4-BE49-F238E27FC236}">
                <a16:creationId xmlns:a16="http://schemas.microsoft.com/office/drawing/2014/main" id="{FF4E7328-B10D-EB94-3CAA-CAA239F9E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1" y="1143651"/>
            <a:ext cx="7149225" cy="4169729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DD32F95-22F4-B89A-8120-7B208EA880A6}"/>
              </a:ext>
            </a:extLst>
          </p:cNvPr>
          <p:cNvGrpSpPr/>
          <p:nvPr/>
        </p:nvGrpSpPr>
        <p:grpSpPr>
          <a:xfrm>
            <a:off x="445891" y="2114589"/>
            <a:ext cx="1718810" cy="3206173"/>
            <a:chOff x="445891" y="2114589"/>
            <a:chExt cx="1718810" cy="3206173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F92B4CC-757B-736D-72F7-4EE524F9A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2987" r="77431" b="60760"/>
            <a:stretch/>
          </p:blipFill>
          <p:spPr>
            <a:xfrm>
              <a:off x="445892" y="2114589"/>
              <a:ext cx="1718809" cy="721917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D82225B5-FAD4-D706-215D-925EE811D2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441" r="77431"/>
            <a:stretch/>
          </p:blipFill>
          <p:spPr>
            <a:xfrm>
              <a:off x="445891" y="2808513"/>
              <a:ext cx="1718809" cy="2512249"/>
            </a:xfrm>
            <a:prstGeom prst="rect">
              <a:avLst/>
            </a:prstGeom>
          </p:spPr>
        </p:pic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460620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결재현황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1801AA55-2ACA-A294-DB4B-4F4BCCE25799}"/>
              </a:ext>
            </a:extLst>
          </p:cNvPr>
          <p:cNvSpPr/>
          <p:nvPr/>
        </p:nvSpPr>
        <p:spPr>
          <a:xfrm>
            <a:off x="2379306" y="3228515"/>
            <a:ext cx="5103845" cy="1959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A29727B-A81B-FD7A-0A86-C372B1E4BE92}"/>
              </a:ext>
            </a:extLst>
          </p:cNvPr>
          <p:cNvSpPr/>
          <p:nvPr/>
        </p:nvSpPr>
        <p:spPr>
          <a:xfrm>
            <a:off x="653143" y="2836508"/>
            <a:ext cx="1362269" cy="20527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BEDFA-6015-00EE-D87C-0AB77AFF8C40}"/>
              </a:ext>
            </a:extLst>
          </p:cNvPr>
          <p:cNvSpPr txBox="1"/>
          <p:nvPr/>
        </p:nvSpPr>
        <p:spPr>
          <a:xfrm>
            <a:off x="983946" y="2092220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F577E-C5FA-2621-8CDC-84764B440E5C}"/>
              </a:ext>
            </a:extLst>
          </p:cNvPr>
          <p:cNvSpPr txBox="1"/>
          <p:nvPr/>
        </p:nvSpPr>
        <p:spPr>
          <a:xfrm>
            <a:off x="2395035" y="1677951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0EF10-05EB-A6EF-9A25-82908A8B0FA1}"/>
              </a:ext>
            </a:extLst>
          </p:cNvPr>
          <p:cNvSpPr txBox="1"/>
          <p:nvPr/>
        </p:nvSpPr>
        <p:spPr>
          <a:xfrm>
            <a:off x="2339490" y="2906451"/>
            <a:ext cx="79798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결재현황</a:t>
            </a:r>
            <a:endParaRPr lang="ko-KR" alt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B76009-FE2F-FBA9-17C4-9A95AE19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340" y="3138015"/>
            <a:ext cx="5215812" cy="17732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E091C2-7A0D-68AA-C90D-09ABD1F64100}"/>
              </a:ext>
            </a:extLst>
          </p:cNvPr>
          <p:cNvSpPr txBox="1"/>
          <p:nvPr/>
        </p:nvSpPr>
        <p:spPr>
          <a:xfrm>
            <a:off x="2445675" y="4381904"/>
            <a:ext cx="691798" cy="200055"/>
          </a:xfrm>
          <a:prstGeom prst="rect">
            <a:avLst/>
          </a:prstGeom>
          <a:solidFill>
            <a:srgbClr val="EDEDED"/>
          </a:solidFill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연차구분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F275ED-F6F0-CBE8-DAD6-7C5D2FDAEE59}"/>
              </a:ext>
            </a:extLst>
          </p:cNvPr>
          <p:cNvSpPr/>
          <p:nvPr/>
        </p:nvSpPr>
        <p:spPr>
          <a:xfrm>
            <a:off x="2267339" y="4321450"/>
            <a:ext cx="5430417" cy="650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CD85D-1026-9D64-EC2D-5CFBC91FA6CD}"/>
              </a:ext>
            </a:extLst>
          </p:cNvPr>
          <p:cNvSpPr txBox="1"/>
          <p:nvPr/>
        </p:nvSpPr>
        <p:spPr>
          <a:xfrm>
            <a:off x="1034291" y="3079048"/>
            <a:ext cx="79798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연차현황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E07E4511-36EF-4811-6580-7197BA84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216178"/>
              </p:ext>
            </p:extLst>
          </p:nvPr>
        </p:nvGraphicFramePr>
        <p:xfrm>
          <a:off x="2348821" y="4726121"/>
          <a:ext cx="5451575" cy="603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272">
                  <a:extLst>
                    <a:ext uri="{9D8B030D-6E8A-4147-A177-3AD203B41FA5}">
                      <a16:colId xmlns:a16="http://schemas.microsoft.com/office/drawing/2014/main" val="2278766904"/>
                    </a:ext>
                  </a:extLst>
                </a:gridCol>
                <a:gridCol w="942919">
                  <a:extLst>
                    <a:ext uri="{9D8B030D-6E8A-4147-A177-3AD203B41FA5}">
                      <a16:colId xmlns:a16="http://schemas.microsoft.com/office/drawing/2014/main" val="585680431"/>
                    </a:ext>
                  </a:extLst>
                </a:gridCol>
                <a:gridCol w="908596">
                  <a:extLst>
                    <a:ext uri="{9D8B030D-6E8A-4147-A177-3AD203B41FA5}">
                      <a16:colId xmlns:a16="http://schemas.microsoft.com/office/drawing/2014/main" val="1429628522"/>
                    </a:ext>
                  </a:extLst>
                </a:gridCol>
                <a:gridCol w="908596">
                  <a:extLst>
                    <a:ext uri="{9D8B030D-6E8A-4147-A177-3AD203B41FA5}">
                      <a16:colId xmlns:a16="http://schemas.microsoft.com/office/drawing/2014/main" val="3872073688"/>
                    </a:ext>
                  </a:extLst>
                </a:gridCol>
                <a:gridCol w="908596">
                  <a:extLst>
                    <a:ext uri="{9D8B030D-6E8A-4147-A177-3AD203B41FA5}">
                      <a16:colId xmlns:a16="http://schemas.microsoft.com/office/drawing/2014/main" val="105866925"/>
                    </a:ext>
                  </a:extLst>
                </a:gridCol>
                <a:gridCol w="908596">
                  <a:extLst>
                    <a:ext uri="{9D8B030D-6E8A-4147-A177-3AD203B41FA5}">
                      <a16:colId xmlns:a16="http://schemas.microsoft.com/office/drawing/2014/main" val="2024014399"/>
                    </a:ext>
                  </a:extLst>
                </a:gridCol>
              </a:tblGrid>
              <a:tr h="2324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연차구분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기안일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시행일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결재자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결재상태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96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리프레시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2023-02-02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강은경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승인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556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CEAB3DB-FF88-5AE5-48F9-3DAD8D27E126}"/>
              </a:ext>
            </a:extLst>
          </p:cNvPr>
          <p:cNvSpPr txBox="1"/>
          <p:nvPr/>
        </p:nvSpPr>
        <p:spPr>
          <a:xfrm>
            <a:off x="2276666" y="4420138"/>
            <a:ext cx="2391767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대기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/>
                </a:solidFill>
                <a:latin typeface="나눔고딕" pitchFamily="2" charset="-127"/>
                <a:ea typeface="나눔고딕" pitchFamily="2" charset="-127"/>
              </a:rPr>
              <a:t>0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승인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나눔고딕" pitchFamily="2" charset="-127"/>
                <a:ea typeface="나눔고딕" pitchFamily="2" charset="-127"/>
              </a:rPr>
              <a:t>1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반려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0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8AA6F47-AD27-B62C-B635-D91479054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43" y="1537238"/>
            <a:ext cx="6328130" cy="36684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21FB43E-6F6F-48CC-7A18-EF7B5B0170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26" y="3428996"/>
            <a:ext cx="1103091" cy="11192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DDD0BF-45B6-DB9F-75AA-0E768DA38E7A}"/>
              </a:ext>
            </a:extLst>
          </p:cNvPr>
          <p:cNvSpPr txBox="1"/>
          <p:nvPr/>
        </p:nvSpPr>
        <p:spPr>
          <a:xfrm>
            <a:off x="3668099" y="2416252"/>
            <a:ext cx="252625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휴가 결재 페이지</a:t>
            </a:r>
          </a:p>
        </p:txBody>
      </p:sp>
    </p:spTree>
    <p:extLst>
      <p:ext uri="{BB962C8B-B14F-4D97-AF65-F5344CB8AC3E}">
        <p14:creationId xmlns:p14="http://schemas.microsoft.com/office/powerpoint/2010/main" val="345943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그림 82">
            <a:extLst>
              <a:ext uri="{FF2B5EF4-FFF2-40B4-BE49-F238E27FC236}">
                <a16:creationId xmlns:a16="http://schemas.microsoft.com/office/drawing/2014/main" id="{FF4E7328-B10D-EB94-3CAA-CAA239F9E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82" y="1022495"/>
            <a:ext cx="7149225" cy="4169729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DD32F95-22F4-B89A-8120-7B208EA880A6}"/>
              </a:ext>
            </a:extLst>
          </p:cNvPr>
          <p:cNvGrpSpPr/>
          <p:nvPr/>
        </p:nvGrpSpPr>
        <p:grpSpPr>
          <a:xfrm>
            <a:off x="156642" y="1993433"/>
            <a:ext cx="1718810" cy="3206173"/>
            <a:chOff x="445891" y="2114589"/>
            <a:chExt cx="1718810" cy="3206173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F92B4CC-757B-736D-72F7-4EE524F9A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2987" r="77431" b="60760"/>
            <a:stretch/>
          </p:blipFill>
          <p:spPr>
            <a:xfrm>
              <a:off x="445892" y="2114589"/>
              <a:ext cx="1718809" cy="721917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D82225B5-FAD4-D706-215D-925EE811D2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441" r="77431"/>
            <a:stretch/>
          </p:blipFill>
          <p:spPr>
            <a:xfrm>
              <a:off x="445891" y="2808513"/>
              <a:ext cx="1718809" cy="2512249"/>
            </a:xfrm>
            <a:prstGeom prst="rect">
              <a:avLst/>
            </a:prstGeom>
          </p:spPr>
        </p:pic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30871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연차현황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1801AA55-2ACA-A294-DB4B-4F4BCCE25799}"/>
              </a:ext>
            </a:extLst>
          </p:cNvPr>
          <p:cNvSpPr/>
          <p:nvPr/>
        </p:nvSpPr>
        <p:spPr>
          <a:xfrm>
            <a:off x="2090057" y="3107359"/>
            <a:ext cx="5103845" cy="1959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BEDFA-6015-00EE-D87C-0AB77AFF8C40}"/>
              </a:ext>
            </a:extLst>
          </p:cNvPr>
          <p:cNvSpPr txBox="1"/>
          <p:nvPr/>
        </p:nvSpPr>
        <p:spPr>
          <a:xfrm>
            <a:off x="694697" y="1971064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F577E-C5FA-2621-8CDC-84764B440E5C}"/>
              </a:ext>
            </a:extLst>
          </p:cNvPr>
          <p:cNvSpPr txBox="1"/>
          <p:nvPr/>
        </p:nvSpPr>
        <p:spPr>
          <a:xfrm>
            <a:off x="2105786" y="1556795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0EF10-05EB-A6EF-9A25-82908A8B0FA1}"/>
              </a:ext>
            </a:extLst>
          </p:cNvPr>
          <p:cNvSpPr txBox="1"/>
          <p:nvPr/>
        </p:nvSpPr>
        <p:spPr>
          <a:xfrm>
            <a:off x="2050241" y="2785295"/>
            <a:ext cx="79798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연차현황</a:t>
            </a:r>
            <a:endParaRPr lang="ko-KR" alt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E091C2-7A0D-68AA-C90D-09ABD1F64100}"/>
              </a:ext>
            </a:extLst>
          </p:cNvPr>
          <p:cNvSpPr txBox="1"/>
          <p:nvPr/>
        </p:nvSpPr>
        <p:spPr>
          <a:xfrm>
            <a:off x="2156426" y="4260748"/>
            <a:ext cx="691798" cy="200055"/>
          </a:xfrm>
          <a:prstGeom prst="rect">
            <a:avLst/>
          </a:prstGeom>
          <a:solidFill>
            <a:srgbClr val="EDEDED"/>
          </a:solidFill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연차구분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F275ED-F6F0-CBE8-DAD6-7C5D2FDAEE59}"/>
              </a:ext>
            </a:extLst>
          </p:cNvPr>
          <p:cNvSpPr/>
          <p:nvPr/>
        </p:nvSpPr>
        <p:spPr>
          <a:xfrm>
            <a:off x="1978090" y="4200294"/>
            <a:ext cx="5430417" cy="650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CD85D-1026-9D64-EC2D-5CFBC91FA6CD}"/>
              </a:ext>
            </a:extLst>
          </p:cNvPr>
          <p:cNvSpPr txBox="1"/>
          <p:nvPr/>
        </p:nvSpPr>
        <p:spPr>
          <a:xfrm>
            <a:off x="745042" y="2957892"/>
            <a:ext cx="79798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연차현황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A29727B-A81B-FD7A-0A86-C372B1E4BE92}"/>
              </a:ext>
            </a:extLst>
          </p:cNvPr>
          <p:cNvSpPr/>
          <p:nvPr/>
        </p:nvSpPr>
        <p:spPr>
          <a:xfrm>
            <a:off x="401217" y="2980149"/>
            <a:ext cx="1362269" cy="20527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9">
            <a:extLst>
              <a:ext uri="{FF2B5EF4-FFF2-40B4-BE49-F238E27FC236}">
                <a16:creationId xmlns:a16="http://schemas.microsoft.com/office/drawing/2014/main" id="{E96D8C47-D8ED-DD4F-C177-67EA30322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947434"/>
              </p:ext>
            </p:extLst>
          </p:nvPr>
        </p:nvGraphicFramePr>
        <p:xfrm>
          <a:off x="2090057" y="3109078"/>
          <a:ext cx="4637314" cy="155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65">
                  <a:extLst>
                    <a:ext uri="{9D8B030D-6E8A-4147-A177-3AD203B41FA5}">
                      <a16:colId xmlns:a16="http://schemas.microsoft.com/office/drawing/2014/main" val="1567352753"/>
                    </a:ext>
                  </a:extLst>
                </a:gridCol>
                <a:gridCol w="3850049">
                  <a:extLst>
                    <a:ext uri="{9D8B030D-6E8A-4147-A177-3AD203B41FA5}">
                      <a16:colId xmlns:a16="http://schemas.microsoft.com/office/drawing/2014/main" val="2881474710"/>
                    </a:ext>
                  </a:extLst>
                </a:gridCol>
              </a:tblGrid>
              <a:tr h="2606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사원명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김지은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686193"/>
                  </a:ext>
                </a:extLst>
              </a:tr>
              <a:tr h="2486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부서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SI</a:t>
                      </a:r>
                      <a:r>
                        <a:rPr lang="ko-KR" altLang="en-US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276721"/>
                  </a:ext>
                </a:extLst>
              </a:tr>
              <a:tr h="2892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입사일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2019-11-01</a:t>
                      </a:r>
                      <a:endParaRPr lang="ko-KR" altLang="en-US" sz="900" b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462834"/>
                  </a:ext>
                </a:extLst>
              </a:tr>
              <a:tr h="2332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생성연차</a:t>
                      </a:r>
                      <a:endParaRPr lang="ko-KR" altLang="en-US" sz="900" b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16</a:t>
                      </a:r>
                      <a:endParaRPr lang="ko-KR" altLang="en-US" sz="900" b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161899"/>
                  </a:ext>
                </a:extLst>
              </a:tr>
              <a:tr h="2146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사용연차</a:t>
                      </a:r>
                      <a:endParaRPr lang="ko-KR" altLang="en-US" sz="900" b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u="sng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900" b="0" u="sng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911202"/>
                  </a:ext>
                </a:extLst>
              </a:tr>
              <a:tr h="2971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잔여연차</a:t>
                      </a:r>
                      <a:endParaRPr lang="ko-KR" altLang="en-US" sz="900" b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14</a:t>
                      </a:r>
                      <a:endParaRPr lang="ko-KR" altLang="en-US" sz="900" b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989494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B2A8DD0-9D90-00E9-519D-539E35C1ED1F}"/>
              </a:ext>
            </a:extLst>
          </p:cNvPr>
          <p:cNvCxnSpPr>
            <a:cxnSpLocks/>
          </p:cNvCxnSpPr>
          <p:nvPr/>
        </p:nvCxnSpPr>
        <p:spPr>
          <a:xfrm flipV="1">
            <a:off x="6255497" y="3556750"/>
            <a:ext cx="1153010" cy="70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4B27202B-A318-EE3A-1B62-7D27ECB71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092900"/>
              </p:ext>
            </p:extLst>
          </p:nvPr>
        </p:nvGraphicFramePr>
        <p:xfrm>
          <a:off x="7511146" y="3000907"/>
          <a:ext cx="441337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776">
                  <a:extLst>
                    <a:ext uri="{9D8B030D-6E8A-4147-A177-3AD203B41FA5}">
                      <a16:colId xmlns:a16="http://schemas.microsoft.com/office/drawing/2014/main" val="2278766904"/>
                    </a:ext>
                  </a:extLst>
                </a:gridCol>
                <a:gridCol w="763350">
                  <a:extLst>
                    <a:ext uri="{9D8B030D-6E8A-4147-A177-3AD203B41FA5}">
                      <a16:colId xmlns:a16="http://schemas.microsoft.com/office/drawing/2014/main" val="585680431"/>
                    </a:ext>
                  </a:extLst>
                </a:gridCol>
                <a:gridCol w="917510">
                  <a:extLst>
                    <a:ext uri="{9D8B030D-6E8A-4147-A177-3AD203B41FA5}">
                      <a16:colId xmlns:a16="http://schemas.microsoft.com/office/drawing/2014/main" val="1429628522"/>
                    </a:ext>
                  </a:extLst>
                </a:gridCol>
                <a:gridCol w="553616">
                  <a:extLst>
                    <a:ext uri="{9D8B030D-6E8A-4147-A177-3AD203B41FA5}">
                      <a16:colId xmlns:a16="http://schemas.microsoft.com/office/drawing/2014/main" val="3872073688"/>
                    </a:ext>
                  </a:extLst>
                </a:gridCol>
                <a:gridCol w="845976">
                  <a:extLst>
                    <a:ext uri="{9D8B030D-6E8A-4147-A177-3AD203B41FA5}">
                      <a16:colId xmlns:a16="http://schemas.microsoft.com/office/drawing/2014/main" val="105866925"/>
                    </a:ext>
                  </a:extLst>
                </a:gridCol>
                <a:gridCol w="625150">
                  <a:extLst>
                    <a:ext uri="{9D8B030D-6E8A-4147-A177-3AD203B41FA5}">
                      <a16:colId xmlns:a16="http://schemas.microsoft.com/office/drawing/2014/main" val="2024014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연차구분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기안일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시행일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결재자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결재상태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963954"/>
                  </a:ext>
                </a:extLst>
              </a:tr>
              <a:tr h="1771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리프레시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2023-02-02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강은경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승인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5565"/>
                  </a:ext>
                </a:extLst>
              </a:tr>
              <a:tr h="1771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연차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2023-02-02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강은경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승인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27686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FC7828F-2DE7-30E4-8731-C10300485EA9}"/>
              </a:ext>
            </a:extLst>
          </p:cNvPr>
          <p:cNvSpPr txBox="1"/>
          <p:nvPr/>
        </p:nvSpPr>
        <p:spPr>
          <a:xfrm>
            <a:off x="7520259" y="2677573"/>
            <a:ext cx="119453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 사용 목록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F18013-351E-BA59-4977-ACFBA752ED50}"/>
              </a:ext>
            </a:extLst>
          </p:cNvPr>
          <p:cNvSpPr txBox="1"/>
          <p:nvPr/>
        </p:nvSpPr>
        <p:spPr>
          <a:xfrm>
            <a:off x="617054" y="5343776"/>
            <a:ext cx="9730595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-  </a:t>
            </a:r>
            <a:r>
              <a:rPr lang="ko-KR" altLang="en-US" sz="10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생성연차는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매년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1/1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일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15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개로 일괄 업데이트</a:t>
            </a:r>
            <a:endParaRPr lang="en-US" altLang="ko-KR" sz="1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관리자가 휴가관리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휴가정책관리 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휴가일수관리에서 </a:t>
            </a:r>
            <a:r>
              <a:rPr lang="ko-KR" altLang="en-US" sz="10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수정가능하도록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개발 </a:t>
            </a:r>
            <a:endParaRPr lang="en-US" altLang="ko-KR" sz="1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1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990A250-3380-44B8-1500-EB1F15267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82" y="1445894"/>
            <a:ext cx="6572250" cy="381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E8FF915-F56B-8328-C098-E22702A00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35" y="3307642"/>
            <a:ext cx="1103091" cy="111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25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그림 82">
            <a:extLst>
              <a:ext uri="{FF2B5EF4-FFF2-40B4-BE49-F238E27FC236}">
                <a16:creationId xmlns:a16="http://schemas.microsoft.com/office/drawing/2014/main" id="{FF4E7328-B10D-EB94-3CAA-CAA239F9E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31" y="1143651"/>
            <a:ext cx="7149225" cy="4169729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DD32F95-22F4-B89A-8120-7B208EA880A6}"/>
              </a:ext>
            </a:extLst>
          </p:cNvPr>
          <p:cNvGrpSpPr/>
          <p:nvPr/>
        </p:nvGrpSpPr>
        <p:grpSpPr>
          <a:xfrm>
            <a:off x="445891" y="2114589"/>
            <a:ext cx="1718810" cy="3206173"/>
            <a:chOff x="445891" y="2114589"/>
            <a:chExt cx="1718810" cy="3206173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F92B4CC-757B-736D-72F7-4EE524F9A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2987" r="77431" b="60760"/>
            <a:stretch/>
          </p:blipFill>
          <p:spPr>
            <a:xfrm>
              <a:off x="445892" y="2114589"/>
              <a:ext cx="1718809" cy="721917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D82225B5-FAD4-D706-215D-925EE811D2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441" r="77431"/>
            <a:stretch/>
          </p:blipFill>
          <p:spPr>
            <a:xfrm>
              <a:off x="445891" y="2808513"/>
              <a:ext cx="1718809" cy="2512249"/>
            </a:xfrm>
            <a:prstGeom prst="rect">
              <a:avLst/>
            </a:prstGeom>
          </p:spPr>
        </p:pic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418162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휴가결재관리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휴가결재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1801AA55-2ACA-A294-DB4B-4F4BCCE25799}"/>
              </a:ext>
            </a:extLst>
          </p:cNvPr>
          <p:cNvSpPr/>
          <p:nvPr/>
        </p:nvSpPr>
        <p:spPr>
          <a:xfrm>
            <a:off x="2379306" y="3228515"/>
            <a:ext cx="5103845" cy="1959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BEDFA-6015-00EE-D87C-0AB77AFF8C40}"/>
              </a:ext>
            </a:extLst>
          </p:cNvPr>
          <p:cNvSpPr txBox="1"/>
          <p:nvPr/>
        </p:nvSpPr>
        <p:spPr>
          <a:xfrm>
            <a:off x="983946" y="2092220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F577E-C5FA-2621-8CDC-84764B440E5C}"/>
              </a:ext>
            </a:extLst>
          </p:cNvPr>
          <p:cNvSpPr txBox="1"/>
          <p:nvPr/>
        </p:nvSpPr>
        <p:spPr>
          <a:xfrm>
            <a:off x="2395035" y="1677951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0EF10-05EB-A6EF-9A25-82908A8B0FA1}"/>
              </a:ext>
            </a:extLst>
          </p:cNvPr>
          <p:cNvSpPr txBox="1"/>
          <p:nvPr/>
        </p:nvSpPr>
        <p:spPr>
          <a:xfrm>
            <a:off x="2339490" y="2906451"/>
            <a:ext cx="79798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휴가결재</a:t>
            </a:r>
            <a:endParaRPr lang="ko-KR" alt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AB76009-FE2F-FBA9-17C4-9A95AE19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340" y="3138015"/>
            <a:ext cx="5215812" cy="17732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E091C2-7A0D-68AA-C90D-09ABD1F64100}"/>
              </a:ext>
            </a:extLst>
          </p:cNvPr>
          <p:cNvSpPr txBox="1"/>
          <p:nvPr/>
        </p:nvSpPr>
        <p:spPr>
          <a:xfrm>
            <a:off x="2445675" y="4381904"/>
            <a:ext cx="691798" cy="200055"/>
          </a:xfrm>
          <a:prstGeom prst="rect">
            <a:avLst/>
          </a:prstGeom>
          <a:solidFill>
            <a:srgbClr val="EDEDED"/>
          </a:solidFill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연차구분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F275ED-F6F0-CBE8-DAD6-7C5D2FDAEE59}"/>
              </a:ext>
            </a:extLst>
          </p:cNvPr>
          <p:cNvSpPr/>
          <p:nvPr/>
        </p:nvSpPr>
        <p:spPr>
          <a:xfrm>
            <a:off x="2267339" y="4321450"/>
            <a:ext cx="5430417" cy="650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CD85D-1026-9D64-EC2D-5CFBC91FA6CD}"/>
              </a:ext>
            </a:extLst>
          </p:cNvPr>
          <p:cNvSpPr txBox="1"/>
          <p:nvPr/>
        </p:nvSpPr>
        <p:spPr>
          <a:xfrm>
            <a:off x="1034291" y="3079048"/>
            <a:ext cx="79798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연차현황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E07E4511-36EF-4811-6580-7197BA84D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882428"/>
              </p:ext>
            </p:extLst>
          </p:nvPr>
        </p:nvGraphicFramePr>
        <p:xfrm>
          <a:off x="2348820" y="4726121"/>
          <a:ext cx="6403293" cy="50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144">
                  <a:extLst>
                    <a:ext uri="{9D8B030D-6E8A-4147-A177-3AD203B41FA5}">
                      <a16:colId xmlns:a16="http://schemas.microsoft.com/office/drawing/2014/main" val="2278766904"/>
                    </a:ext>
                  </a:extLst>
                </a:gridCol>
                <a:gridCol w="713975">
                  <a:extLst>
                    <a:ext uri="{9D8B030D-6E8A-4147-A177-3AD203B41FA5}">
                      <a16:colId xmlns:a16="http://schemas.microsoft.com/office/drawing/2014/main" val="293738669"/>
                    </a:ext>
                  </a:extLst>
                </a:gridCol>
                <a:gridCol w="867747">
                  <a:extLst>
                    <a:ext uri="{9D8B030D-6E8A-4147-A177-3AD203B41FA5}">
                      <a16:colId xmlns:a16="http://schemas.microsoft.com/office/drawing/2014/main" val="585680431"/>
                    </a:ext>
                  </a:extLst>
                </a:gridCol>
                <a:gridCol w="1558212">
                  <a:extLst>
                    <a:ext uri="{9D8B030D-6E8A-4147-A177-3AD203B41FA5}">
                      <a16:colId xmlns:a16="http://schemas.microsoft.com/office/drawing/2014/main" val="297049555"/>
                    </a:ext>
                  </a:extLst>
                </a:gridCol>
                <a:gridCol w="578498">
                  <a:extLst>
                    <a:ext uri="{9D8B030D-6E8A-4147-A177-3AD203B41FA5}">
                      <a16:colId xmlns:a16="http://schemas.microsoft.com/office/drawing/2014/main" val="2431625637"/>
                    </a:ext>
                  </a:extLst>
                </a:gridCol>
                <a:gridCol w="801046">
                  <a:extLst>
                    <a:ext uri="{9D8B030D-6E8A-4147-A177-3AD203B41FA5}">
                      <a16:colId xmlns:a16="http://schemas.microsoft.com/office/drawing/2014/main" val="1108028221"/>
                    </a:ext>
                  </a:extLst>
                </a:gridCol>
                <a:gridCol w="1307671">
                  <a:extLst>
                    <a:ext uri="{9D8B030D-6E8A-4147-A177-3AD203B41FA5}">
                      <a16:colId xmlns:a16="http://schemas.microsoft.com/office/drawing/2014/main" val="3073675480"/>
                    </a:ext>
                  </a:extLst>
                </a:gridCol>
              </a:tblGrid>
              <a:tr h="2161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기안자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연차구분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기안일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연차일정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연차일수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결재일자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결재상태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963954"/>
                  </a:ext>
                </a:extLst>
              </a:tr>
              <a:tr h="2922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김지은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리프레시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2023-02-01 ~ 2023-02-02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완료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5565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CEAB3DB-FF88-5AE5-48F9-3DAD8D27E126}"/>
              </a:ext>
            </a:extLst>
          </p:cNvPr>
          <p:cNvSpPr txBox="1"/>
          <p:nvPr/>
        </p:nvSpPr>
        <p:spPr>
          <a:xfrm>
            <a:off x="2276666" y="4420138"/>
            <a:ext cx="2391767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전체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 14 /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처리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14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/ </a:t>
            </a:r>
            <a:r>
              <a:rPr lang="ko-KR" altLang="en-US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대기 </a:t>
            </a:r>
            <a:r>
              <a:rPr lang="en-US" altLang="ko-KR" sz="11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6"/>
                </a:solidFill>
                <a:latin typeface="나눔고딕" pitchFamily="2" charset="-127"/>
                <a:ea typeface="나눔고딕" pitchFamily="2" charset="-127"/>
              </a:rPr>
              <a:t>0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8AA6F47-AD27-B62C-B635-D91479054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43" y="1537238"/>
            <a:ext cx="6328130" cy="3668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E2B0A6-4F04-BE9C-FF4F-CB3DBF9FFBAE}"/>
              </a:ext>
            </a:extLst>
          </p:cNvPr>
          <p:cNvSpPr txBox="1"/>
          <p:nvPr/>
        </p:nvSpPr>
        <p:spPr>
          <a:xfrm>
            <a:off x="2267121" y="2328843"/>
            <a:ext cx="1819687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휴가결재관리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6B2DD6-4740-BA42-C091-F8D968BE8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854" y="3436108"/>
            <a:ext cx="1103091" cy="1119235"/>
          </a:xfrm>
          <a:prstGeom prst="rect">
            <a:avLst/>
          </a:prstGeom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5A29727B-A81B-FD7A-0A86-C372B1E4BE92}"/>
              </a:ext>
            </a:extLst>
          </p:cNvPr>
          <p:cNvSpPr/>
          <p:nvPr/>
        </p:nvSpPr>
        <p:spPr>
          <a:xfrm>
            <a:off x="653144" y="3692399"/>
            <a:ext cx="1278294" cy="22035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1105A8-9B1C-D520-D37B-AF6AD164D20C}"/>
              </a:ext>
            </a:extLst>
          </p:cNvPr>
          <p:cNvSpPr/>
          <p:nvPr/>
        </p:nvSpPr>
        <p:spPr>
          <a:xfrm>
            <a:off x="3377682" y="3350478"/>
            <a:ext cx="429208" cy="134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938F9F7-6228-1075-E340-7084F39709B0}"/>
              </a:ext>
            </a:extLst>
          </p:cNvPr>
          <p:cNvSpPr/>
          <p:nvPr/>
        </p:nvSpPr>
        <p:spPr>
          <a:xfrm>
            <a:off x="2520323" y="3717617"/>
            <a:ext cx="691798" cy="10243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연차구분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ACB074-9EC2-A109-7495-67B2C18E8567}"/>
              </a:ext>
            </a:extLst>
          </p:cNvPr>
          <p:cNvSpPr/>
          <p:nvPr/>
        </p:nvSpPr>
        <p:spPr>
          <a:xfrm>
            <a:off x="2513380" y="3909211"/>
            <a:ext cx="691798" cy="102438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기안자</a:t>
            </a:r>
            <a:endParaRPr lang="ko-KR" altLang="en-US" sz="9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8EAE22-46BE-98A8-EE38-2F11AE4E5597}"/>
              </a:ext>
            </a:extLst>
          </p:cNvPr>
          <p:cNvSpPr/>
          <p:nvPr/>
        </p:nvSpPr>
        <p:spPr>
          <a:xfrm>
            <a:off x="3398620" y="3885121"/>
            <a:ext cx="457200" cy="156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BFE980F-20F1-00BC-CB78-C6E6596084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113" y="4911287"/>
            <a:ext cx="1120839" cy="3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30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그림 82">
            <a:extLst>
              <a:ext uri="{FF2B5EF4-FFF2-40B4-BE49-F238E27FC236}">
                <a16:creationId xmlns:a16="http://schemas.microsoft.com/office/drawing/2014/main" id="{FF4E7328-B10D-EB94-3CAA-CAA239F9E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82" y="1022495"/>
            <a:ext cx="7149225" cy="4169729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DD32F95-22F4-B89A-8120-7B208EA880A6}"/>
              </a:ext>
            </a:extLst>
          </p:cNvPr>
          <p:cNvGrpSpPr/>
          <p:nvPr/>
        </p:nvGrpSpPr>
        <p:grpSpPr>
          <a:xfrm>
            <a:off x="156642" y="1993433"/>
            <a:ext cx="1718810" cy="3206173"/>
            <a:chOff x="445891" y="2114589"/>
            <a:chExt cx="1718810" cy="3206173"/>
          </a:xfrm>
        </p:grpSpPr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F92B4CC-757B-736D-72F7-4EE524F9A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2987" r="77431" b="60760"/>
            <a:stretch/>
          </p:blipFill>
          <p:spPr>
            <a:xfrm>
              <a:off x="445892" y="2114589"/>
              <a:ext cx="1718809" cy="721917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D82225B5-FAD4-D706-215D-925EE811D2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43441" r="77431"/>
            <a:stretch/>
          </p:blipFill>
          <p:spPr>
            <a:xfrm>
              <a:off x="445891" y="2808513"/>
              <a:ext cx="1718809" cy="2512249"/>
            </a:xfrm>
            <a:prstGeom prst="rect">
              <a:avLst/>
            </a:prstGeom>
          </p:spPr>
        </p:pic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707539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휴가결재관리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연차관리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4" name="직사각형 83">
            <a:extLst>
              <a:ext uri="{FF2B5EF4-FFF2-40B4-BE49-F238E27FC236}">
                <a16:creationId xmlns:a16="http://schemas.microsoft.com/office/drawing/2014/main" id="{1801AA55-2ACA-A294-DB4B-4F4BCCE25799}"/>
              </a:ext>
            </a:extLst>
          </p:cNvPr>
          <p:cNvSpPr/>
          <p:nvPr/>
        </p:nvSpPr>
        <p:spPr>
          <a:xfrm>
            <a:off x="2090057" y="3107359"/>
            <a:ext cx="5103845" cy="1959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BEDFA-6015-00EE-D87C-0AB77AFF8C40}"/>
              </a:ext>
            </a:extLst>
          </p:cNvPr>
          <p:cNvSpPr txBox="1"/>
          <p:nvPr/>
        </p:nvSpPr>
        <p:spPr>
          <a:xfrm>
            <a:off x="694697" y="1971064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F577E-C5FA-2621-8CDC-84764B440E5C}"/>
              </a:ext>
            </a:extLst>
          </p:cNvPr>
          <p:cNvSpPr txBox="1"/>
          <p:nvPr/>
        </p:nvSpPr>
        <p:spPr>
          <a:xfrm>
            <a:off x="2105786" y="1556795"/>
            <a:ext cx="797983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휴가관리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D0EF10-05EB-A6EF-9A25-82908A8B0FA1}"/>
              </a:ext>
            </a:extLst>
          </p:cNvPr>
          <p:cNvSpPr txBox="1"/>
          <p:nvPr/>
        </p:nvSpPr>
        <p:spPr>
          <a:xfrm>
            <a:off x="2050241" y="2785295"/>
            <a:ext cx="797983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연차관리</a:t>
            </a:r>
            <a:endParaRPr lang="ko-KR" alt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E091C2-7A0D-68AA-C90D-09ABD1F64100}"/>
              </a:ext>
            </a:extLst>
          </p:cNvPr>
          <p:cNvSpPr txBox="1"/>
          <p:nvPr/>
        </p:nvSpPr>
        <p:spPr>
          <a:xfrm>
            <a:off x="2156426" y="4260748"/>
            <a:ext cx="691798" cy="200055"/>
          </a:xfrm>
          <a:prstGeom prst="rect">
            <a:avLst/>
          </a:prstGeom>
          <a:solidFill>
            <a:srgbClr val="EDEDED"/>
          </a:solidFill>
        </p:spPr>
        <p:txBody>
          <a:bodyPr wrap="square">
            <a:spAutoFit/>
          </a:bodyPr>
          <a:lstStyle/>
          <a:p>
            <a:r>
              <a:rPr lang="ko-KR" altLang="en-US" sz="7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연차구분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0F275ED-F6F0-CBE8-DAD6-7C5D2FDAEE59}"/>
              </a:ext>
            </a:extLst>
          </p:cNvPr>
          <p:cNvSpPr/>
          <p:nvPr/>
        </p:nvSpPr>
        <p:spPr>
          <a:xfrm>
            <a:off x="1978090" y="4200294"/>
            <a:ext cx="5430417" cy="650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9CD85D-1026-9D64-EC2D-5CFBC91FA6CD}"/>
              </a:ext>
            </a:extLst>
          </p:cNvPr>
          <p:cNvSpPr txBox="1"/>
          <p:nvPr/>
        </p:nvSpPr>
        <p:spPr>
          <a:xfrm>
            <a:off x="745042" y="2957892"/>
            <a:ext cx="797983" cy="21544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나눔고딕" pitchFamily="2" charset="-127"/>
                <a:ea typeface="나눔고딕" pitchFamily="2" charset="-127"/>
              </a:rPr>
              <a:t>연차현황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4B27202B-A318-EE3A-1B62-7D27ECB71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62730"/>
              </p:ext>
            </p:extLst>
          </p:nvPr>
        </p:nvGraphicFramePr>
        <p:xfrm>
          <a:off x="2111001" y="3887880"/>
          <a:ext cx="5706002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606">
                  <a:extLst>
                    <a:ext uri="{9D8B030D-6E8A-4147-A177-3AD203B41FA5}">
                      <a16:colId xmlns:a16="http://schemas.microsoft.com/office/drawing/2014/main" val="699089630"/>
                    </a:ext>
                  </a:extLst>
                </a:gridCol>
                <a:gridCol w="788606">
                  <a:extLst>
                    <a:ext uri="{9D8B030D-6E8A-4147-A177-3AD203B41FA5}">
                      <a16:colId xmlns:a16="http://schemas.microsoft.com/office/drawing/2014/main" val="2278766904"/>
                    </a:ext>
                  </a:extLst>
                </a:gridCol>
                <a:gridCol w="850526">
                  <a:extLst>
                    <a:ext uri="{9D8B030D-6E8A-4147-A177-3AD203B41FA5}">
                      <a16:colId xmlns:a16="http://schemas.microsoft.com/office/drawing/2014/main" val="585680431"/>
                    </a:ext>
                  </a:extLst>
                </a:gridCol>
                <a:gridCol w="1022292">
                  <a:extLst>
                    <a:ext uri="{9D8B030D-6E8A-4147-A177-3AD203B41FA5}">
                      <a16:colId xmlns:a16="http://schemas.microsoft.com/office/drawing/2014/main" val="1429628522"/>
                    </a:ext>
                  </a:extLst>
                </a:gridCol>
                <a:gridCol w="717334">
                  <a:extLst>
                    <a:ext uri="{9D8B030D-6E8A-4147-A177-3AD203B41FA5}">
                      <a16:colId xmlns:a16="http://schemas.microsoft.com/office/drawing/2014/main" val="3872073688"/>
                    </a:ext>
                  </a:extLst>
                </a:gridCol>
                <a:gridCol w="842094">
                  <a:extLst>
                    <a:ext uri="{9D8B030D-6E8A-4147-A177-3AD203B41FA5}">
                      <a16:colId xmlns:a16="http://schemas.microsoft.com/office/drawing/2014/main" val="105866925"/>
                    </a:ext>
                  </a:extLst>
                </a:gridCol>
                <a:gridCol w="696544">
                  <a:extLst>
                    <a:ext uri="{9D8B030D-6E8A-4147-A177-3AD203B41FA5}">
                      <a16:colId xmlns:a16="http://schemas.microsoft.com/office/drawing/2014/main" val="2024014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□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사원명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부서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입사일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생성연차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사용연차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잔여연차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963954"/>
                  </a:ext>
                </a:extLst>
              </a:tr>
              <a:tr h="1771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□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김지은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SI</a:t>
                      </a:r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사업부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2019-11-01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15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13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556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8F18013-351E-BA59-4977-ACFBA752ED50}"/>
              </a:ext>
            </a:extLst>
          </p:cNvPr>
          <p:cNvSpPr txBox="1"/>
          <p:nvPr/>
        </p:nvSpPr>
        <p:spPr>
          <a:xfrm>
            <a:off x="625762" y="5355229"/>
            <a:ext cx="9730595" cy="55399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-  </a:t>
            </a:r>
            <a:r>
              <a:rPr lang="ko-KR" altLang="en-US" sz="10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생성연차는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매년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1/1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일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15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개로 일괄 업데이트</a:t>
            </a:r>
            <a:endParaRPr lang="en-US" altLang="ko-KR" sz="1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관리자가 휴가관리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휴가정책관리  </a:t>
            </a:r>
            <a:r>
              <a:rPr lang="en-US" altLang="ko-KR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휴가일수관리에서 </a:t>
            </a:r>
            <a:r>
              <a:rPr lang="ko-KR" altLang="en-US" sz="10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수정가능하도록</a:t>
            </a:r>
            <a:r>
              <a:rPr lang="ko-KR" altLang="en-US" sz="1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 개발 </a:t>
            </a:r>
            <a:endParaRPr lang="en-US" altLang="ko-KR" sz="10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>
                  <a:lumMod val="50000"/>
                </a:schemeClr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ko-KR" altLang="en-US" sz="1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990A250-3380-44B8-1500-EB1F15267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82" y="1445894"/>
            <a:ext cx="6572250" cy="3810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E8FF915-F56B-8328-C098-E22702A00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435" y="3307642"/>
            <a:ext cx="1103091" cy="1119235"/>
          </a:xfrm>
          <a:prstGeom prst="rect">
            <a:avLst/>
          </a:prstGeom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5A29727B-A81B-FD7A-0A86-C372B1E4BE92}"/>
              </a:ext>
            </a:extLst>
          </p:cNvPr>
          <p:cNvSpPr/>
          <p:nvPr/>
        </p:nvSpPr>
        <p:spPr>
          <a:xfrm>
            <a:off x="390845" y="3867259"/>
            <a:ext cx="1362269" cy="20527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5151690-CD57-2883-5FA7-77692739C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017" y="3223994"/>
            <a:ext cx="1939301" cy="2488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B9742D8-30D8-39E3-82D2-7D912B1415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558" y="3236438"/>
            <a:ext cx="1451459" cy="2364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51D9FD-A7F6-597B-A072-4F5CF649ACFC}"/>
              </a:ext>
            </a:extLst>
          </p:cNvPr>
          <p:cNvSpPr txBox="1"/>
          <p:nvPr/>
        </p:nvSpPr>
        <p:spPr>
          <a:xfrm>
            <a:off x="2136604" y="3236438"/>
            <a:ext cx="681134" cy="184666"/>
          </a:xfrm>
          <a:prstGeom prst="rect">
            <a:avLst/>
          </a:prstGeom>
          <a:solidFill>
            <a:srgbClr val="EAEAEA"/>
          </a:solidFill>
        </p:spPr>
        <p:txBody>
          <a:bodyPr wrap="square">
            <a:spAutoFit/>
          </a:bodyPr>
          <a:lstStyle/>
          <a:p>
            <a:r>
              <a:rPr lang="ko-KR" altLang="en-US" sz="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부서</a:t>
            </a:r>
            <a:endParaRPr lang="ko-KR" altLang="en-US" sz="6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87B1582-8819-3880-8F0E-F68D9F2713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5054" y="3260873"/>
            <a:ext cx="361950" cy="2190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C837C5A-ED4F-8EF2-EED4-896A0647AEF1}"/>
              </a:ext>
            </a:extLst>
          </p:cNvPr>
          <p:cNvSpPr txBox="1"/>
          <p:nvPr/>
        </p:nvSpPr>
        <p:spPr>
          <a:xfrm>
            <a:off x="5255977" y="3244334"/>
            <a:ext cx="681134" cy="184666"/>
          </a:xfrm>
          <a:prstGeom prst="rect">
            <a:avLst/>
          </a:prstGeom>
          <a:solidFill>
            <a:srgbClr val="EAEAEA"/>
          </a:solidFill>
        </p:spPr>
        <p:txBody>
          <a:bodyPr wrap="square">
            <a:spAutoFit/>
          </a:bodyPr>
          <a:lstStyle/>
          <a:p>
            <a:r>
              <a:rPr lang="ko-KR" altLang="en-US" sz="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입사일</a:t>
            </a:r>
            <a:endParaRPr lang="ko-KR" altLang="en-US" sz="6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A798CD7-0CE0-CD60-4CB4-F49093603D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315" y="3250783"/>
            <a:ext cx="1609725" cy="152400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C04357D-DD6B-9E11-BFE8-6B344D73AF63}"/>
              </a:ext>
            </a:extLst>
          </p:cNvPr>
          <p:cNvSpPr/>
          <p:nvPr/>
        </p:nvSpPr>
        <p:spPr>
          <a:xfrm>
            <a:off x="6615405" y="3580552"/>
            <a:ext cx="1119674" cy="2867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연차일수 수정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E31983B-5935-A4A6-CADB-977A87F9D6F2}"/>
              </a:ext>
            </a:extLst>
          </p:cNvPr>
          <p:cNvCxnSpPr>
            <a:cxnSpLocks/>
          </p:cNvCxnSpPr>
          <p:nvPr/>
        </p:nvCxnSpPr>
        <p:spPr>
          <a:xfrm flipV="1">
            <a:off x="7687281" y="2950494"/>
            <a:ext cx="1153010" cy="70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519185A-7DE4-C910-BA15-7367062D0BF0}"/>
              </a:ext>
            </a:extLst>
          </p:cNvPr>
          <p:cNvSpPr/>
          <p:nvPr/>
        </p:nvSpPr>
        <p:spPr>
          <a:xfrm>
            <a:off x="8929396" y="1556795"/>
            <a:ext cx="2742169" cy="2023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D29A009F-2842-80F0-130D-71CCFD27FB22}"/>
              </a:ext>
            </a:extLst>
          </p:cNvPr>
          <p:cNvSpPr/>
          <p:nvPr/>
        </p:nvSpPr>
        <p:spPr>
          <a:xfrm>
            <a:off x="8991467" y="3205080"/>
            <a:ext cx="1119674" cy="2867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저장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9E1A671-7AB6-9002-C74D-6C036E934DD0}"/>
              </a:ext>
            </a:extLst>
          </p:cNvPr>
          <p:cNvSpPr/>
          <p:nvPr/>
        </p:nvSpPr>
        <p:spPr>
          <a:xfrm>
            <a:off x="10287907" y="3202225"/>
            <a:ext cx="1119674" cy="2867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닫기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43095FB-EE3D-C63E-DA4C-6CE8D4A900AF}"/>
              </a:ext>
            </a:extLst>
          </p:cNvPr>
          <p:cNvSpPr/>
          <p:nvPr/>
        </p:nvSpPr>
        <p:spPr>
          <a:xfrm>
            <a:off x="9311951" y="2354391"/>
            <a:ext cx="2006082" cy="360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B3C247-8931-F7FB-E39A-5619309FD02D}"/>
              </a:ext>
            </a:extLst>
          </p:cNvPr>
          <p:cNvSpPr txBox="1"/>
          <p:nvPr/>
        </p:nvSpPr>
        <p:spPr>
          <a:xfrm>
            <a:off x="9386596" y="18268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연차일수</a:t>
            </a:r>
          </a:p>
        </p:txBody>
      </p:sp>
    </p:spTree>
    <p:extLst>
      <p:ext uri="{BB962C8B-B14F-4D97-AF65-F5344CB8AC3E}">
        <p14:creationId xmlns:p14="http://schemas.microsoft.com/office/powerpoint/2010/main" val="641843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085831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조직관리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AEC497D-F9BC-CAB3-F08D-2C6FA0E0498C}"/>
              </a:ext>
            </a:extLst>
          </p:cNvPr>
          <p:cNvSpPr txBox="1"/>
          <p:nvPr/>
        </p:nvSpPr>
        <p:spPr>
          <a:xfrm>
            <a:off x="2720116" y="2084365"/>
            <a:ext cx="610299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사용자 입사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퇴사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권한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부서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직급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정보 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권한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부서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직급 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C13A2-45C0-C0E6-9B1D-9C33182834EB}"/>
              </a:ext>
            </a:extLst>
          </p:cNvPr>
          <p:cNvSpPr txBox="1"/>
          <p:nvPr/>
        </p:nvSpPr>
        <p:spPr>
          <a:xfrm>
            <a:off x="666924" y="1266516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조직 관리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5BFE4-F12D-A4B8-AB80-D5CC991FEC5C}"/>
              </a:ext>
            </a:extLst>
          </p:cNvPr>
          <p:cNvSpPr txBox="1"/>
          <p:nvPr/>
        </p:nvSpPr>
        <p:spPr>
          <a:xfrm>
            <a:off x="1106776" y="2084365"/>
            <a:ext cx="16133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사용자관리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시스템관리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3285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522C4805-8A58-C8B4-0C70-3F6B1E7CF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526513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조직관리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표 18">
            <a:extLst>
              <a:ext uri="{FF2B5EF4-FFF2-40B4-BE49-F238E27FC236}">
                <a16:creationId xmlns:a16="http://schemas.microsoft.com/office/drawing/2014/main" id="{5A4CF87D-8939-723D-E6D0-9908D119E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730147"/>
              </p:ext>
            </p:extLst>
          </p:nvPr>
        </p:nvGraphicFramePr>
        <p:xfrm>
          <a:off x="531846" y="2608072"/>
          <a:ext cx="8789436" cy="83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079">
                  <a:extLst>
                    <a:ext uri="{9D8B030D-6E8A-4147-A177-3AD203B41FA5}">
                      <a16:colId xmlns:a16="http://schemas.microsoft.com/office/drawing/2014/main" val="3748599050"/>
                    </a:ext>
                  </a:extLst>
                </a:gridCol>
                <a:gridCol w="493079">
                  <a:extLst>
                    <a:ext uri="{9D8B030D-6E8A-4147-A177-3AD203B41FA5}">
                      <a16:colId xmlns:a16="http://schemas.microsoft.com/office/drawing/2014/main" val="2278766904"/>
                    </a:ext>
                  </a:extLst>
                </a:gridCol>
                <a:gridCol w="611041">
                  <a:extLst>
                    <a:ext uri="{9D8B030D-6E8A-4147-A177-3AD203B41FA5}">
                      <a16:colId xmlns:a16="http://schemas.microsoft.com/office/drawing/2014/main" val="293738669"/>
                    </a:ext>
                  </a:extLst>
                </a:gridCol>
                <a:gridCol w="955427">
                  <a:extLst>
                    <a:ext uri="{9D8B030D-6E8A-4147-A177-3AD203B41FA5}">
                      <a16:colId xmlns:a16="http://schemas.microsoft.com/office/drawing/2014/main" val="585680431"/>
                    </a:ext>
                  </a:extLst>
                </a:gridCol>
                <a:gridCol w="1120774">
                  <a:extLst>
                    <a:ext uri="{9D8B030D-6E8A-4147-A177-3AD203B41FA5}">
                      <a16:colId xmlns:a16="http://schemas.microsoft.com/office/drawing/2014/main" val="297049555"/>
                    </a:ext>
                  </a:extLst>
                </a:gridCol>
                <a:gridCol w="495095">
                  <a:extLst>
                    <a:ext uri="{9D8B030D-6E8A-4147-A177-3AD203B41FA5}">
                      <a16:colId xmlns:a16="http://schemas.microsoft.com/office/drawing/2014/main" val="2431625637"/>
                    </a:ext>
                  </a:extLst>
                </a:gridCol>
                <a:gridCol w="685557">
                  <a:extLst>
                    <a:ext uri="{9D8B030D-6E8A-4147-A177-3AD203B41FA5}">
                      <a16:colId xmlns:a16="http://schemas.microsoft.com/office/drawing/2014/main" val="1108028221"/>
                    </a:ext>
                  </a:extLst>
                </a:gridCol>
                <a:gridCol w="1119140">
                  <a:extLst>
                    <a:ext uri="{9D8B030D-6E8A-4147-A177-3AD203B41FA5}">
                      <a16:colId xmlns:a16="http://schemas.microsoft.com/office/drawing/2014/main" val="1765784858"/>
                    </a:ext>
                  </a:extLst>
                </a:gridCol>
                <a:gridCol w="1119140">
                  <a:extLst>
                    <a:ext uri="{9D8B030D-6E8A-4147-A177-3AD203B41FA5}">
                      <a16:colId xmlns:a16="http://schemas.microsoft.com/office/drawing/2014/main" val="3073675480"/>
                    </a:ext>
                  </a:extLst>
                </a:gridCol>
                <a:gridCol w="736051">
                  <a:extLst>
                    <a:ext uri="{9D8B030D-6E8A-4147-A177-3AD203B41FA5}">
                      <a16:colId xmlns:a16="http://schemas.microsoft.com/office/drawing/2014/main" val="1663172714"/>
                    </a:ext>
                  </a:extLst>
                </a:gridCol>
                <a:gridCol w="961053">
                  <a:extLst>
                    <a:ext uri="{9D8B030D-6E8A-4147-A177-3AD203B41FA5}">
                      <a16:colId xmlns:a16="http://schemas.microsoft.com/office/drawing/2014/main" val="1680875009"/>
                    </a:ext>
                  </a:extLst>
                </a:gridCol>
              </a:tblGrid>
              <a:tr h="2161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사번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직원명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아이디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입사일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부서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직급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권한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주소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재직여부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963954"/>
                  </a:ext>
                </a:extLst>
              </a:tr>
              <a:tr h="3294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00001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김지은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kje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SI</a:t>
                      </a:r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사업부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책임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매니저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kje@omcst.com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010-1234-5678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한국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재직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5565"/>
                  </a:ext>
                </a:extLst>
              </a:tr>
              <a:tr h="292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00002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강은경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KEK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2023-01-31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인사부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책임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매니저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kje@omcst.com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010-1234-5678</a:t>
                      </a:r>
                      <a:endParaRPr lang="ko-KR" altLang="en-US" sz="8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한국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latin typeface="나눔고딕" pitchFamily="2" charset="-127"/>
                          <a:ea typeface="나눔고딕" pitchFamily="2" charset="-127"/>
                        </a:rPr>
                        <a:t>재직</a:t>
                      </a: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662614"/>
                  </a:ext>
                </a:extLst>
              </a:tr>
            </a:tbl>
          </a:graphicData>
        </a:graphic>
      </p:graphicFrame>
      <p:pic>
        <p:nvPicPr>
          <p:cNvPr id="30" name="그림 29">
            <a:extLst>
              <a:ext uri="{FF2B5EF4-FFF2-40B4-BE49-F238E27FC236}">
                <a16:creationId xmlns:a16="http://schemas.microsoft.com/office/drawing/2014/main" id="{E681C334-5015-F0A1-440D-1435839E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70" y="1927039"/>
            <a:ext cx="1939301" cy="24888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1E23C87-27EB-3A29-8666-9C30462F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11" y="1939483"/>
            <a:ext cx="1451459" cy="23643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DD36756-3507-A511-9F04-1459227A40D1}"/>
              </a:ext>
            </a:extLst>
          </p:cNvPr>
          <p:cNvSpPr txBox="1"/>
          <p:nvPr/>
        </p:nvSpPr>
        <p:spPr>
          <a:xfrm>
            <a:off x="718457" y="1939483"/>
            <a:ext cx="681134" cy="184666"/>
          </a:xfrm>
          <a:prstGeom prst="rect">
            <a:avLst/>
          </a:prstGeom>
          <a:solidFill>
            <a:srgbClr val="EAEAEA"/>
          </a:solidFill>
        </p:spPr>
        <p:txBody>
          <a:bodyPr wrap="square">
            <a:spAutoFit/>
          </a:bodyPr>
          <a:lstStyle/>
          <a:p>
            <a:r>
              <a:rPr lang="ko-KR" altLang="en-US" sz="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부서</a:t>
            </a:r>
            <a:endParaRPr lang="ko-KR" altLang="en-US" sz="6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BA8D7ED-73B6-A77F-0B90-39B875ABF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907" y="1963918"/>
            <a:ext cx="361950" cy="21907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E922F986-07FA-CC43-09E9-E743DEF30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6168" y="1953828"/>
            <a:ext cx="1609725" cy="152400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7BE0D4E-0347-9A44-BE70-DAB0699673B8}"/>
              </a:ext>
            </a:extLst>
          </p:cNvPr>
          <p:cNvSpPr/>
          <p:nvPr/>
        </p:nvSpPr>
        <p:spPr>
          <a:xfrm>
            <a:off x="8258789" y="2092116"/>
            <a:ext cx="970382" cy="3362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3429420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877691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조직관리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사용자관리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6BA84B71-8203-AC9A-2767-3B28452BB3DE}"/>
              </a:ext>
            </a:extLst>
          </p:cNvPr>
          <p:cNvSpPr txBox="1"/>
          <p:nvPr/>
        </p:nvSpPr>
        <p:spPr>
          <a:xfrm>
            <a:off x="7846478" y="1032005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32759D-BBBD-429D-0DF9-93BFD65BA16A}"/>
              </a:ext>
            </a:extLst>
          </p:cNvPr>
          <p:cNvSpPr txBox="1"/>
          <p:nvPr/>
        </p:nvSpPr>
        <p:spPr>
          <a:xfrm>
            <a:off x="7860169" y="1271668"/>
            <a:ext cx="4510683" cy="106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입사자는 사용할 아이디 및 기타 정보를 관리자에게 메일로 전달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관리자가 아이디 및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입사자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정보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권한 등록 후 메일로 안내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초기 로그인 시 기본 비밀번호 변경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변경한 비밀번호로 재로그인 필요 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비밀번호 분실 시 관리자에게 문의하여 비밀번호 초기화 후 재설정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F9BE8F11-CC53-A990-4765-307D91DD98C7}"/>
              </a:ext>
            </a:extLst>
          </p:cNvPr>
          <p:cNvGrpSpPr/>
          <p:nvPr/>
        </p:nvGrpSpPr>
        <p:grpSpPr>
          <a:xfrm>
            <a:off x="4435831" y="1032005"/>
            <a:ext cx="3133725" cy="5837757"/>
            <a:chOff x="824884" y="1032005"/>
            <a:chExt cx="3133725" cy="5837757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F0AF59FF-931C-DA96-2D54-E81C069B1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884" y="1032005"/>
              <a:ext cx="3133725" cy="5391150"/>
            </a:xfrm>
            <a:prstGeom prst="rect">
              <a:avLst/>
            </a:prstGeom>
          </p:spPr>
        </p:pic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4E9F06DE-B29F-393F-9280-1CAD9E0E27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8245"/>
            <a:stretch/>
          </p:blipFill>
          <p:spPr>
            <a:xfrm>
              <a:off x="948709" y="5837757"/>
              <a:ext cx="2935353" cy="1032005"/>
            </a:xfrm>
            <a:prstGeom prst="rect">
              <a:avLst/>
            </a:prstGeom>
          </p:spPr>
        </p:pic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18CEB7B6-5407-FDC1-3CC8-D69CA1490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709" y="4930937"/>
              <a:ext cx="3009900" cy="485775"/>
            </a:xfrm>
            <a:prstGeom prst="rect">
              <a:avLst/>
            </a:prstGeom>
          </p:spPr>
        </p:pic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6B98F3B4-55B9-6F9F-3807-362237A7DE6F}"/>
                </a:ext>
              </a:extLst>
            </p:cNvPr>
            <p:cNvSpPr/>
            <p:nvPr/>
          </p:nvSpPr>
          <p:spPr>
            <a:xfrm>
              <a:off x="1066822" y="4905376"/>
              <a:ext cx="681135" cy="368851"/>
            </a:xfrm>
            <a:prstGeom prst="rect">
              <a:avLst/>
            </a:prstGeom>
            <a:solidFill>
              <a:srgbClr val="F5F6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입사일</a:t>
              </a:r>
            </a:p>
          </p:txBody>
        </p:sp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CBACA706-CCFC-C1A5-2A3C-518175792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709" y="5373169"/>
              <a:ext cx="3009900" cy="485775"/>
            </a:xfrm>
            <a:prstGeom prst="rect">
              <a:avLst/>
            </a:prstGeom>
          </p:spPr>
        </p:pic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A989F3AE-71DB-263D-4EF1-6FB7C9BD9FA5}"/>
                </a:ext>
              </a:extLst>
            </p:cNvPr>
            <p:cNvSpPr/>
            <p:nvPr/>
          </p:nvSpPr>
          <p:spPr>
            <a:xfrm>
              <a:off x="1066822" y="5347608"/>
              <a:ext cx="681135" cy="368851"/>
            </a:xfrm>
            <a:prstGeom prst="rect">
              <a:avLst/>
            </a:prstGeom>
            <a:solidFill>
              <a:srgbClr val="F5F6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재직여부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6508A8A-2BEF-A8DA-DB08-38B7AA052FF0}"/>
                </a:ext>
              </a:extLst>
            </p:cNvPr>
            <p:cNvSpPr txBox="1"/>
            <p:nvPr/>
          </p:nvSpPr>
          <p:spPr>
            <a:xfrm>
              <a:off x="1015320" y="1203939"/>
              <a:ext cx="126134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200" b="1" spc="-20" dirty="0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사용자등록</a:t>
              </a:r>
              <a:endParaRPr lang="en-US" altLang="ko-KR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  <a:p>
              <a:r>
                <a:rPr lang="en-US" altLang="ko-KR" sz="1200" b="1" spc="-20" dirty="0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(</a:t>
              </a:r>
              <a:r>
                <a:rPr lang="ko-KR" altLang="en-US" sz="1200" b="1" spc="-20" dirty="0" err="1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등록버튼클릭시</a:t>
              </a:r>
              <a:r>
                <a:rPr lang="en-US" altLang="ko-KR" sz="1200" b="1" spc="-20" dirty="0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)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D82C2EC0-ED79-8BE1-A8C2-4A430C061B8B}"/>
              </a:ext>
            </a:extLst>
          </p:cNvPr>
          <p:cNvGrpSpPr/>
          <p:nvPr/>
        </p:nvGrpSpPr>
        <p:grpSpPr>
          <a:xfrm>
            <a:off x="833878" y="908738"/>
            <a:ext cx="3133725" cy="5837757"/>
            <a:chOff x="824884" y="1032005"/>
            <a:chExt cx="3133725" cy="5837757"/>
          </a:xfrm>
        </p:grpSpPr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90BD3480-1715-AFB2-5F2E-6E85AE04F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884" y="1032005"/>
              <a:ext cx="3133725" cy="5391150"/>
            </a:xfrm>
            <a:prstGeom prst="rect">
              <a:avLst/>
            </a:prstGeom>
          </p:spPr>
        </p:pic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168C26E4-E09F-EB5E-5B24-E0ACC9AFA3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8245"/>
            <a:stretch/>
          </p:blipFill>
          <p:spPr>
            <a:xfrm>
              <a:off x="948709" y="5837757"/>
              <a:ext cx="2935353" cy="1032005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88DB8D39-CDC1-640D-AC13-513A327DC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709" y="4930937"/>
              <a:ext cx="3009900" cy="485775"/>
            </a:xfrm>
            <a:prstGeom prst="rect">
              <a:avLst/>
            </a:prstGeom>
          </p:spPr>
        </p:pic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9545B99-004E-16B4-5C82-D458F6626F29}"/>
                </a:ext>
              </a:extLst>
            </p:cNvPr>
            <p:cNvSpPr/>
            <p:nvPr/>
          </p:nvSpPr>
          <p:spPr>
            <a:xfrm>
              <a:off x="1066822" y="4905376"/>
              <a:ext cx="681135" cy="368851"/>
            </a:xfrm>
            <a:prstGeom prst="rect">
              <a:avLst/>
            </a:prstGeom>
            <a:solidFill>
              <a:srgbClr val="F5F6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입사일</a:t>
              </a:r>
            </a:p>
          </p:txBody>
        </p:sp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B3C3F8BB-7732-8F32-CC6E-C9AD8BFD9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709" y="5373169"/>
              <a:ext cx="3009900" cy="485775"/>
            </a:xfrm>
            <a:prstGeom prst="rect">
              <a:avLst/>
            </a:prstGeom>
          </p:spPr>
        </p:pic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7B1ECACE-438A-78C0-9DE6-36E59C6F3FA0}"/>
                </a:ext>
              </a:extLst>
            </p:cNvPr>
            <p:cNvSpPr/>
            <p:nvPr/>
          </p:nvSpPr>
          <p:spPr>
            <a:xfrm>
              <a:off x="1066822" y="5347608"/>
              <a:ext cx="681135" cy="368851"/>
            </a:xfrm>
            <a:prstGeom prst="rect">
              <a:avLst/>
            </a:prstGeom>
            <a:solidFill>
              <a:srgbClr val="F5F6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재직여부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377B39C-2085-74D1-047C-C9E9C2313EA1}"/>
                </a:ext>
              </a:extLst>
            </p:cNvPr>
            <p:cNvSpPr txBox="1"/>
            <p:nvPr/>
          </p:nvSpPr>
          <p:spPr>
            <a:xfrm>
              <a:off x="1015320" y="1203939"/>
              <a:ext cx="126134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200" b="1" spc="-20" dirty="0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사용자정보수정 </a:t>
              </a:r>
              <a:r>
                <a:rPr lang="en-US" altLang="ko-KR" sz="1200" b="1" spc="-20" dirty="0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(</a:t>
              </a:r>
              <a:r>
                <a:rPr lang="ko-KR" altLang="en-US" sz="1200" b="1" spc="-20" dirty="0" err="1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사번클릭시</a:t>
              </a:r>
              <a:r>
                <a:rPr lang="en-US" altLang="ko-KR" sz="1200" b="1" spc="-20" dirty="0">
                  <a:solidFill>
                    <a:schemeClr val="tx2">
                      <a:lumMod val="50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)</a:t>
              </a:r>
            </a:p>
          </p:txBody>
        </p:sp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3EB52F88-4525-F6BD-5B8B-57D9BA53C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7326" y="2107836"/>
            <a:ext cx="18002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581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550979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프로그램 관리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신규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-</a:t>
                      </a:r>
                      <a:endParaRPr lang="ko-KR" altLang="en-US" sz="11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AEC497D-F9BC-CAB3-F08D-2C6FA0E0498C}"/>
              </a:ext>
            </a:extLst>
          </p:cNvPr>
          <p:cNvSpPr txBox="1"/>
          <p:nvPr/>
        </p:nvSpPr>
        <p:spPr>
          <a:xfrm>
            <a:off x="2720116" y="2084365"/>
            <a:ext cx="610299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메뉴 등록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삭제</a:t>
            </a:r>
            <a:r>
              <a:rPr lang="en-US" altLang="ko-KR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권한 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메뉴에서 사용할 프로그램 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프로그램에서 사용하는 코드 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7C13A2-45C0-C0E6-9B1D-9C33182834EB}"/>
              </a:ext>
            </a:extLst>
          </p:cNvPr>
          <p:cNvSpPr txBox="1"/>
          <p:nvPr/>
        </p:nvSpPr>
        <p:spPr>
          <a:xfrm>
            <a:off x="666924" y="1266516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나눔고딕" pitchFamily="2" charset="-127"/>
                <a:ea typeface="나눔고딕" pitchFamily="2" charset="-127"/>
              </a:rPr>
              <a:t>프로그램 관리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5BFE4-F12D-A4B8-AB80-D5CC991FEC5C}"/>
              </a:ext>
            </a:extLst>
          </p:cNvPr>
          <p:cNvSpPr txBox="1"/>
          <p:nvPr/>
        </p:nvSpPr>
        <p:spPr>
          <a:xfrm>
            <a:off x="1106776" y="2084365"/>
            <a:ext cx="16133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메뉴관리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프로그램관리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r>
              <a:rPr lang="ko-KR" altLang="en-US" sz="110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고딕" pitchFamily="2" charset="-127"/>
                <a:ea typeface="나눔고딕" pitchFamily="2" charset="-127"/>
              </a:rPr>
              <a:t>코드관리</a:t>
            </a:r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  <a:p>
            <a:endParaRPr lang="en-US" altLang="ko-KR" sz="1100" dirty="0">
              <a:ln>
                <a:solidFill>
                  <a:schemeClr val="accent1">
                    <a:alpha val="0"/>
                  </a:schemeClr>
                </a:solidFill>
              </a:ln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1954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933205"/>
              </p:ext>
            </p:extLst>
          </p:nvPr>
        </p:nvGraphicFramePr>
        <p:xfrm>
          <a:off x="1" y="4064"/>
          <a:ext cx="12192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9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내부시스템관리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메뉴관리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메뉴목록관리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sym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mnu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mpm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EgovMenuRegist.jsp</a:t>
                      </a:r>
                      <a:endParaRPr lang="en-US" altLang="ko-KR" sz="1100" b="0" spc="-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5162173"/>
            <a:ext cx="4720233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 사용여부 항목 추가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관련이미지명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관련이미지경로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삭제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0" y="4866974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FE9D1D1-629E-CC87-044D-DB1E2C28A68B}"/>
              </a:ext>
            </a:extLst>
          </p:cNvPr>
          <p:cNvSpPr txBox="1"/>
          <p:nvPr/>
        </p:nvSpPr>
        <p:spPr>
          <a:xfrm>
            <a:off x="6096000" y="4922510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0E6EF-A0E3-BF7F-9A28-12AFB31BE080}"/>
              </a:ext>
            </a:extLst>
          </p:cNvPr>
          <p:cNvSpPr txBox="1"/>
          <p:nvPr/>
        </p:nvSpPr>
        <p:spPr>
          <a:xfrm>
            <a:off x="6109691" y="5162173"/>
            <a:ext cx="4510683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관리자는 모든 글을 삭제 가능한지 확인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AD8372C-1E04-6AEF-65BA-9D5094DBE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857203"/>
            <a:ext cx="5264960" cy="389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39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072672"/>
              </p:ext>
            </p:extLst>
          </p:nvPr>
        </p:nvGraphicFramePr>
        <p:xfrm>
          <a:off x="1" y="4064"/>
          <a:ext cx="12192000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근태관리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omcst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yearVacation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YearVacationList.jsp</a:t>
                      </a:r>
                      <a:r>
                        <a:rPr lang="ko-KR" altLang="en-US" sz="1100" b="1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1100" b="1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1100" b="1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목록조회</a:t>
                      </a:r>
                      <a:r>
                        <a:rPr lang="en-US" altLang="ko-KR" sz="1100" b="1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spc="-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4626312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4865975"/>
            <a:ext cx="7240426" cy="1660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계획인 항목은 조회 필요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없을듯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… 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승인도 반려도 처리할 수 없기 때문에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 </a:t>
            </a:r>
          </a:p>
          <a:p>
            <a:pPr marL="228600" indent="-228600">
              <a:lnSpc>
                <a:spcPct val="130000"/>
              </a:lnSpc>
              <a:buFontTx/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정렬순서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: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진행상태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신청일자 순서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신청 상태인 항목을 제일 위로 조회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승인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반려 처리한 경우 신청 상태보다 아래에 조회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반려 버튼은 승인 버튼과 다른 색상을 적용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신청자 컬럼에 링크가 걸려있는데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해당 링크는 제거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클릭해도 별도 액션이 없음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결재자와 신청자 이름이 동일함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결재자는 결재한 사람의 이름으로 조회되도록 수정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연차기간 유효성 체크 진행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진행상태 콤보 옵션 항목이 하드코딩으로 되어 있음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공통코드로 조회해서 동적으로 적용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메뉴명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휴가정보관리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과 화면 타이틀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연차정보관리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맞지 않음 통일 필요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하드코딩 되어있음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-8388" y="4556581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41344C-5ECD-EB8E-6171-DD8B0AAD6225}"/>
              </a:ext>
            </a:extLst>
          </p:cNvPr>
          <p:cNvSpPr txBox="1"/>
          <p:nvPr/>
        </p:nvSpPr>
        <p:spPr>
          <a:xfrm>
            <a:off x="7731853" y="4626312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E4B06-5589-528C-5328-42D5821E3BF3}"/>
              </a:ext>
            </a:extLst>
          </p:cNvPr>
          <p:cNvSpPr txBox="1"/>
          <p:nvPr/>
        </p:nvSpPr>
        <p:spPr>
          <a:xfrm>
            <a:off x="7745544" y="4865975"/>
            <a:ext cx="4510683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연차 일정 내에 승인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반려 처리 하지 못한 연차는 어떻게 처리할 것인지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07DCD8-4843-52CA-9EA1-A4A29E74E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30" y="841869"/>
            <a:ext cx="5841970" cy="3405319"/>
          </a:xfrm>
          <a:prstGeom prst="rect">
            <a:avLst/>
          </a:prstGeom>
        </p:spPr>
      </p:pic>
      <p:sp>
        <p:nvSpPr>
          <p:cNvPr id="5" name="곱하기 기호 4">
            <a:extLst>
              <a:ext uri="{FF2B5EF4-FFF2-40B4-BE49-F238E27FC236}">
                <a16:creationId xmlns:a16="http://schemas.microsoft.com/office/drawing/2014/main" id="{855B3C88-E171-2901-E092-83FF5C28DE7B}"/>
              </a:ext>
            </a:extLst>
          </p:cNvPr>
          <p:cNvSpPr/>
          <p:nvPr/>
        </p:nvSpPr>
        <p:spPr>
          <a:xfrm>
            <a:off x="5651242" y="1054360"/>
            <a:ext cx="4124131" cy="3690868"/>
          </a:xfrm>
          <a:prstGeom prst="mathMultiply">
            <a:avLst>
              <a:gd name="adj1" fmla="val 9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252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6A6F95-704A-1F6E-4697-524A0AF4C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630405"/>
              </p:ext>
            </p:extLst>
          </p:nvPr>
        </p:nvGraphicFramePr>
        <p:xfrm>
          <a:off x="1" y="4064"/>
          <a:ext cx="12192000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87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근태관리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휴가신청 </a:t>
                      </a:r>
                      <a:r>
                        <a:rPr lang="en-US" altLang="ko-KR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&gt; </a:t>
                      </a:r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휴가계획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EE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파일명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omcst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yearVacation</a:t>
                      </a:r>
                      <a:r>
                        <a:rPr lang="en-US" altLang="ko-KR" sz="1100" b="0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en-US" altLang="ko-KR" sz="1100" b="0" spc="-2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YearVacationRegist.jsp</a:t>
                      </a:r>
                      <a:r>
                        <a:rPr lang="ko-KR" altLang="en-US" sz="1100" b="1" spc="-2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2">
                              <a:lumMod val="50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1100" b="1" spc="-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spc="-2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2">
                            <a:lumMod val="50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>
                    <a:lnL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9B9E09A-2EA6-7EC4-16C7-C2A07F2C0D90}"/>
              </a:ext>
            </a:extLst>
          </p:cNvPr>
          <p:cNvSpPr txBox="1"/>
          <p:nvPr/>
        </p:nvSpPr>
        <p:spPr>
          <a:xfrm>
            <a:off x="371475" y="4626312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수정내용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BDD28-8EA5-931F-3E9D-4EB87301265E}"/>
              </a:ext>
            </a:extLst>
          </p:cNvPr>
          <p:cNvSpPr txBox="1"/>
          <p:nvPr/>
        </p:nvSpPr>
        <p:spPr>
          <a:xfrm>
            <a:off x="385167" y="4865975"/>
            <a:ext cx="7240426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기안일자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기안자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기안부서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구분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기간 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(From-to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달력으로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 ,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신청일수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자동입력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), </a:t>
            </a:r>
            <a:r>
              <a:rPr lang="ko-KR" altLang="en-US" sz="1000" spc="-20" dirty="0" err="1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잔여연차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항목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결재라인 지정 기능 추가 필요</a:t>
            </a:r>
            <a:endParaRPr lang="en-US" altLang="ko-KR" sz="1000" spc="-20" dirty="0">
              <a:solidFill>
                <a:schemeClr val="tx2">
                  <a:lumMod val="7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A04D3E0-5596-4052-85BB-44D40D97A24A}"/>
              </a:ext>
            </a:extLst>
          </p:cNvPr>
          <p:cNvCxnSpPr>
            <a:cxnSpLocks/>
          </p:cNvCxnSpPr>
          <p:nvPr/>
        </p:nvCxnSpPr>
        <p:spPr>
          <a:xfrm>
            <a:off x="-8388" y="4556581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41344C-5ECD-EB8E-6171-DD8B0AAD6225}"/>
              </a:ext>
            </a:extLst>
          </p:cNvPr>
          <p:cNvSpPr txBox="1"/>
          <p:nvPr/>
        </p:nvSpPr>
        <p:spPr>
          <a:xfrm>
            <a:off x="7731853" y="4626312"/>
            <a:ext cx="784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20" dirty="0">
                <a:solidFill>
                  <a:schemeClr val="tx2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메뉴얼</a:t>
            </a:r>
            <a:endParaRPr lang="en-US" altLang="ko-KR" sz="1200" b="1" spc="-20" dirty="0">
              <a:solidFill>
                <a:schemeClr val="tx2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E4B06-5589-528C-5328-42D5821E3BF3}"/>
              </a:ext>
            </a:extLst>
          </p:cNvPr>
          <p:cNvSpPr txBox="1"/>
          <p:nvPr/>
        </p:nvSpPr>
        <p:spPr>
          <a:xfrm>
            <a:off x="7745544" y="4865975"/>
            <a:ext cx="4510683" cy="26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연차 일정 내에 승인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반려 처리 하지 못한 연차는 어떻게 처리할 것인지</a:t>
            </a:r>
            <a:r>
              <a:rPr lang="en-US" altLang="ko-KR" sz="1000" spc="-20" dirty="0">
                <a:solidFill>
                  <a:schemeClr val="tx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DA1443-818D-86CD-E4E4-8516D12B6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111017"/>
            <a:ext cx="4917446" cy="3005804"/>
          </a:xfrm>
          <a:prstGeom prst="rect">
            <a:avLst/>
          </a:prstGeom>
        </p:spPr>
      </p:pic>
      <p:sp>
        <p:nvSpPr>
          <p:cNvPr id="13" name="곱하기 기호 12">
            <a:extLst>
              <a:ext uri="{FF2B5EF4-FFF2-40B4-BE49-F238E27FC236}">
                <a16:creationId xmlns:a16="http://schemas.microsoft.com/office/drawing/2014/main" id="{682AD634-4506-88CF-5040-BCD2AD997333}"/>
              </a:ext>
            </a:extLst>
          </p:cNvPr>
          <p:cNvSpPr/>
          <p:nvPr/>
        </p:nvSpPr>
        <p:spPr>
          <a:xfrm>
            <a:off x="5651242" y="1054360"/>
            <a:ext cx="4124131" cy="3690868"/>
          </a:xfrm>
          <a:prstGeom prst="mathMultiply">
            <a:avLst>
              <a:gd name="adj1" fmla="val 9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865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184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1708</Words>
  <Application>Microsoft Office PowerPoint</Application>
  <PresentationFormat>와이드스크린</PresentationFormat>
  <Paragraphs>496</Paragraphs>
  <Slides>23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om</dc:creator>
  <cp:lastModifiedBy>om</cp:lastModifiedBy>
  <cp:revision>90</cp:revision>
  <dcterms:created xsi:type="dcterms:W3CDTF">2023-01-30T05:12:50Z</dcterms:created>
  <dcterms:modified xsi:type="dcterms:W3CDTF">2023-02-07T08:18:53Z</dcterms:modified>
</cp:coreProperties>
</file>